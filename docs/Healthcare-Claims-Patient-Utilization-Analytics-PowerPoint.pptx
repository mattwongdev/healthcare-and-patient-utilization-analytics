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charts/chart1.xml" ContentType="application/vnd.openxmlformats-officedocument.drawingml.chart+xml"/>
  <Override PartName="/ppt/notesSlides/notesSlide7.xml" ContentType="application/vnd.openxmlformats-officedocument.presentationml.notesSlide+xml"/>
  <Override PartName="/ppt/charts/chart2.xml" ContentType="application/vnd.openxmlformats-officedocument.drawingml.chart+xml"/>
  <Override PartName="/ppt/notesSlides/notesSlide8.xml" ContentType="application/vnd.openxmlformats-officedocument.presentationml.notesSlide+xml"/>
  <Override PartName="/ppt/charts/chart3.xml" ContentType="application/vnd.openxmlformats-officedocument.drawingml.chart+xml"/>
  <Override PartName="/ppt/notesSlides/notesSlide9.xml" ContentType="application/vnd.openxmlformats-officedocument.presentationml.notesSlide+xml"/>
  <Override PartName="/ppt/charts/chart4.xml" ContentType="application/vnd.openxmlformats-officedocument.drawingml.char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1"/>
  </p:notesMasterIdLst>
  <p:sldIdLst>
    <p:sldId id="256" r:id="rId2"/>
    <p:sldId id="257" r:id="rId3"/>
    <p:sldId id="258" r:id="rId4"/>
    <p:sldId id="259" r:id="rId5"/>
    <p:sldId id="260" r:id="rId6"/>
    <p:sldId id="261" r:id="rId7"/>
    <p:sldId id="262" r:id="rId8"/>
    <p:sldId id="263" r:id="rId9"/>
    <p:sldId id="264" r:id="rId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12" d="100"/>
          <a:sy n="112" d="100"/>
        </p:scale>
        <p:origin x="835" y="8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autoTitleDeleted val="1"/>
    <c:plotArea>
      <c:layout/>
      <c:barChart>
        <c:barDir val="bar"/>
        <c:grouping val="clustered"/>
        <c:varyColors val="0"/>
        <c:ser>
          <c:idx val="0"/>
          <c:order val="0"/>
          <c:tx>
            <c:v>Total claim cost ($M)</c:v>
          </c:tx>
          <c:spPr>
            <a:solidFill>
              <a:srgbClr val="A8DDD8"/>
            </a:solidFill>
          </c:spPr>
          <c:invertIfNegative val="1"/>
          <c:dPt>
            <c:idx val="0"/>
            <c:invertIfNegative val="0"/>
            <c:bubble3D val="0"/>
            <c:spPr>
              <a:solidFill>
                <a:srgbClr val="CDE8E5"/>
              </a:solidFill>
            </c:spPr>
            <c:extLst>
              <c:ext xmlns:c16="http://schemas.microsoft.com/office/drawing/2014/chart" uri="{C3380CC4-5D6E-409C-BE32-E72D297353CC}">
                <c16:uniqueId val="{00000001-D705-4C58-AB01-50B548C993DD}"/>
              </c:ext>
            </c:extLst>
          </c:dPt>
          <c:dPt>
            <c:idx val="1"/>
            <c:invertIfNegative val="0"/>
            <c:bubble3D val="0"/>
            <c:spPr>
              <a:solidFill>
                <a:srgbClr val="C0E3DF"/>
              </a:solidFill>
            </c:spPr>
            <c:extLst>
              <c:ext xmlns:c16="http://schemas.microsoft.com/office/drawing/2014/chart" uri="{C3380CC4-5D6E-409C-BE32-E72D297353CC}">
                <c16:uniqueId val="{00000003-D705-4C58-AB01-50B548C993DD}"/>
              </c:ext>
            </c:extLst>
          </c:dPt>
          <c:dPt>
            <c:idx val="2"/>
            <c:invertIfNegative val="0"/>
            <c:bubble3D val="0"/>
            <c:spPr>
              <a:solidFill>
                <a:srgbClr val="B2DDD8"/>
              </a:solidFill>
            </c:spPr>
            <c:extLst>
              <c:ext xmlns:c16="http://schemas.microsoft.com/office/drawing/2014/chart" uri="{C3380CC4-5D6E-409C-BE32-E72D297353CC}">
                <c16:uniqueId val="{00000005-D705-4C58-AB01-50B548C993DD}"/>
              </c:ext>
            </c:extLst>
          </c:dPt>
          <c:dPt>
            <c:idx val="3"/>
            <c:invertIfNegative val="0"/>
            <c:bubble3D val="0"/>
            <c:spPr>
              <a:solidFill>
                <a:srgbClr val="9BD4CE"/>
              </a:solidFill>
            </c:spPr>
            <c:extLst>
              <c:ext xmlns:c16="http://schemas.microsoft.com/office/drawing/2014/chart" uri="{C3380CC4-5D6E-409C-BE32-E72D297353CC}">
                <c16:uniqueId val="{00000007-D705-4C58-AB01-50B548C993DD}"/>
              </c:ext>
            </c:extLst>
          </c:dPt>
          <c:dPt>
            <c:idx val="4"/>
            <c:invertIfNegative val="0"/>
            <c:bubble3D val="0"/>
            <c:spPr>
              <a:solidFill>
                <a:srgbClr val="7FC8C1"/>
              </a:solidFill>
            </c:spPr>
            <c:extLst>
              <c:ext xmlns:c16="http://schemas.microsoft.com/office/drawing/2014/chart" uri="{C3380CC4-5D6E-409C-BE32-E72D297353CC}">
                <c16:uniqueId val="{00000009-D705-4C58-AB01-50B548C993DD}"/>
              </c:ext>
            </c:extLst>
          </c:dPt>
          <c:dPt>
            <c:idx val="5"/>
            <c:invertIfNegative val="0"/>
            <c:bubble3D val="0"/>
            <c:spPr>
              <a:solidFill>
                <a:srgbClr val="19A79B"/>
              </a:solidFill>
            </c:spPr>
            <c:extLst>
              <c:ext xmlns:c16="http://schemas.microsoft.com/office/drawing/2014/chart" uri="{C3380CC4-5D6E-409C-BE32-E72D297353CC}">
                <c16:uniqueId val="{0000000B-D705-4C58-AB01-50B548C993DD}"/>
              </c:ext>
            </c:extLst>
          </c:dPt>
          <c:dLbls>
            <c:dLbl>
              <c:idx val="0"/>
              <c:tx>
                <c:rich>
                  <a:bodyPr/>
                  <a:lstStyle/>
                  <a:p>
                    <a:r>
                      <a:rPr lang="en-US" sz="975" b="1">
                        <a:solidFill>
                          <a:srgbClr val="172B3D"/>
                        </a:solidFill>
                      </a:rPr>
                      <a:t>$14.9M</a:t>
                    </a:r>
                  </a:p>
                </c:rich>
              </c:tx>
              <c:spPr/>
              <c:showLegendKey val="1"/>
              <c:showVal val="1"/>
              <c:showCatName val="1"/>
              <c:showSerName val="1"/>
              <c:showPercent val="1"/>
              <c:showBubbleSize val="1"/>
              <c:extLst>
                <c:ext xmlns:c15="http://schemas.microsoft.com/office/drawing/2012/chart" uri="{CE6537A1-D6FC-4f65-9D91-7224C49458BB}">
                  <c15:showDataLabelsRange val="0"/>
                </c:ext>
                <c:ext xmlns:c16="http://schemas.microsoft.com/office/drawing/2014/chart" uri="{C3380CC4-5D6E-409C-BE32-E72D297353CC}">
                  <c16:uniqueId val="{00000001-D705-4C58-AB01-50B548C993DD}"/>
                </c:ext>
              </c:extLst>
            </c:dLbl>
            <c:dLbl>
              <c:idx val="1"/>
              <c:tx>
                <c:rich>
                  <a:bodyPr/>
                  <a:lstStyle/>
                  <a:p>
                    <a:r>
                      <a:rPr lang="en-US" sz="975" b="1">
                        <a:solidFill>
                          <a:srgbClr val="172B3D"/>
                        </a:solidFill>
                      </a:rPr>
                      <a:t>$15.1M</a:t>
                    </a:r>
                  </a:p>
                </c:rich>
              </c:tx>
              <c:spPr/>
              <c:showLegendKey val="1"/>
              <c:showVal val="1"/>
              <c:showCatName val="1"/>
              <c:showSerName val="1"/>
              <c:showPercent val="1"/>
              <c:showBubbleSize val="1"/>
              <c:extLst>
                <c:ext xmlns:c15="http://schemas.microsoft.com/office/drawing/2012/chart" uri="{CE6537A1-D6FC-4f65-9D91-7224C49458BB}">
                  <c15:showDataLabelsRange val="0"/>
                </c:ext>
                <c:ext xmlns:c16="http://schemas.microsoft.com/office/drawing/2014/chart" uri="{C3380CC4-5D6E-409C-BE32-E72D297353CC}">
                  <c16:uniqueId val="{00000003-D705-4C58-AB01-50B548C993DD}"/>
                </c:ext>
              </c:extLst>
            </c:dLbl>
            <c:dLbl>
              <c:idx val="2"/>
              <c:tx>
                <c:rich>
                  <a:bodyPr/>
                  <a:lstStyle/>
                  <a:p>
                    <a:r>
                      <a:rPr lang="en-US" sz="975" b="1">
                        <a:solidFill>
                          <a:srgbClr val="172B3D"/>
                        </a:solidFill>
                      </a:rPr>
                      <a:t>$17.2M</a:t>
                    </a:r>
                  </a:p>
                </c:rich>
              </c:tx>
              <c:spPr/>
              <c:showLegendKey val="1"/>
              <c:showVal val="1"/>
              <c:showCatName val="1"/>
              <c:showSerName val="1"/>
              <c:showPercent val="1"/>
              <c:showBubbleSize val="1"/>
              <c:extLst>
                <c:ext xmlns:c15="http://schemas.microsoft.com/office/drawing/2012/chart" uri="{CE6537A1-D6FC-4f65-9D91-7224C49458BB}">
                  <c15:showDataLabelsRange val="0"/>
                </c:ext>
                <c:ext xmlns:c16="http://schemas.microsoft.com/office/drawing/2014/chart" uri="{C3380CC4-5D6E-409C-BE32-E72D297353CC}">
                  <c16:uniqueId val="{00000005-D705-4C58-AB01-50B548C993DD}"/>
                </c:ext>
              </c:extLst>
            </c:dLbl>
            <c:dLbl>
              <c:idx val="3"/>
              <c:tx>
                <c:rich>
                  <a:bodyPr/>
                  <a:lstStyle/>
                  <a:p>
                    <a:r>
                      <a:rPr lang="en-US" sz="975" b="1">
                        <a:solidFill>
                          <a:srgbClr val="172B3D"/>
                        </a:solidFill>
                      </a:rPr>
                      <a:t>$30.6M</a:t>
                    </a:r>
                  </a:p>
                </c:rich>
              </c:tx>
              <c:spPr/>
              <c:showLegendKey val="1"/>
              <c:showVal val="1"/>
              <c:showCatName val="1"/>
              <c:showSerName val="1"/>
              <c:showPercent val="1"/>
              <c:showBubbleSize val="1"/>
              <c:extLst>
                <c:ext xmlns:c15="http://schemas.microsoft.com/office/drawing/2012/chart" uri="{CE6537A1-D6FC-4f65-9D91-7224C49458BB}">
                  <c15:showDataLabelsRange val="0"/>
                </c:ext>
                <c:ext xmlns:c16="http://schemas.microsoft.com/office/drawing/2014/chart" uri="{C3380CC4-5D6E-409C-BE32-E72D297353CC}">
                  <c16:uniqueId val="{00000007-D705-4C58-AB01-50B548C993DD}"/>
                </c:ext>
              </c:extLst>
            </c:dLbl>
            <c:dLbl>
              <c:idx val="4"/>
              <c:tx>
                <c:rich>
                  <a:bodyPr/>
                  <a:lstStyle/>
                  <a:p>
                    <a:r>
                      <a:rPr lang="en-US" sz="975" b="1">
                        <a:solidFill>
                          <a:srgbClr val="172B3D"/>
                        </a:solidFill>
                      </a:rPr>
                      <a:t>$45.9M</a:t>
                    </a:r>
                  </a:p>
                </c:rich>
              </c:tx>
              <c:spPr/>
              <c:showLegendKey val="1"/>
              <c:showVal val="1"/>
              <c:showCatName val="1"/>
              <c:showSerName val="1"/>
              <c:showPercent val="1"/>
              <c:showBubbleSize val="1"/>
              <c:extLst>
                <c:ext xmlns:c15="http://schemas.microsoft.com/office/drawing/2012/chart" uri="{CE6537A1-D6FC-4f65-9D91-7224C49458BB}">
                  <c15:showDataLabelsRange val="0"/>
                </c:ext>
                <c:ext xmlns:c16="http://schemas.microsoft.com/office/drawing/2014/chart" uri="{C3380CC4-5D6E-409C-BE32-E72D297353CC}">
                  <c16:uniqueId val="{00000009-D705-4C58-AB01-50B548C993DD}"/>
                </c:ext>
              </c:extLst>
            </c:dLbl>
            <c:dLbl>
              <c:idx val="5"/>
              <c:tx>
                <c:rich>
                  <a:bodyPr/>
                  <a:lstStyle/>
                  <a:p>
                    <a:r>
                      <a:rPr lang="en-US" sz="975" b="1">
                        <a:solidFill>
                          <a:srgbClr val="172B3D"/>
                        </a:solidFill>
                      </a:rPr>
                      <a:t>$131.3M</a:t>
                    </a:r>
                  </a:p>
                </c:rich>
              </c:tx>
              <c:spPr/>
              <c:showLegendKey val="1"/>
              <c:showVal val="1"/>
              <c:showCatName val="1"/>
              <c:showSerName val="1"/>
              <c:showPercent val="1"/>
              <c:showBubbleSize val="1"/>
              <c:extLst>
                <c:ext xmlns:c15="http://schemas.microsoft.com/office/drawing/2012/chart" uri="{CE6537A1-D6FC-4f65-9D91-7224C49458BB}">
                  <c15:showDataLabelsRange val="0"/>
                </c:ext>
                <c:ext xmlns:c16="http://schemas.microsoft.com/office/drawing/2014/chart" uri="{C3380CC4-5D6E-409C-BE32-E72D297353CC}">
                  <c16:uniqueId val="{0000000B-D705-4C58-AB01-50B548C993DD}"/>
                </c:ext>
              </c:extLst>
            </c:dLbl>
            <c:spPr>
              <a:noFill/>
              <a:ln>
                <a:noFill/>
              </a:ln>
              <a:effectLst/>
            </c:spPr>
            <c:showLegendKey val="1"/>
            <c:showVal val="1"/>
            <c:showCatName val="1"/>
            <c:showSerName val="1"/>
            <c:showPercent val="1"/>
            <c:showBubbleSize val="1"/>
            <c:showLeaderLines val="0"/>
            <c:extLst>
              <c:ext xmlns:c15="http://schemas.microsoft.com/office/drawing/2012/chart" uri="{CE6537A1-D6FC-4f65-9D91-7224C49458BB}">
                <c15:showLeaderLines val="0"/>
              </c:ext>
            </c:extLst>
          </c:dLbls>
          <c:cat>
            <c:strLit>
              <c:ptCount val="6"/>
              <c:pt idx="0">
                <c:v>Urgent Care</c:v>
              </c:pt>
              <c:pt idx="1">
                <c:v>Inpatient</c:v>
              </c:pt>
              <c:pt idx="2">
                <c:v>Emergency</c:v>
              </c:pt>
              <c:pt idx="3">
                <c:v>Outpatient</c:v>
              </c:pt>
              <c:pt idx="4">
                <c:v>Wellness</c:v>
              </c:pt>
              <c:pt idx="5">
                <c:v>Ambulatory</c:v>
              </c:pt>
            </c:strLit>
          </c:cat>
          <c:val>
            <c:numLit>
              <c:formatCode>General</c:formatCode>
              <c:ptCount val="6"/>
              <c:pt idx="0">
                <c:v>14.87</c:v>
              </c:pt>
              <c:pt idx="1">
                <c:v>15.15</c:v>
              </c:pt>
              <c:pt idx="2">
                <c:v>17.18</c:v>
              </c:pt>
              <c:pt idx="3">
                <c:v>30.64</c:v>
              </c:pt>
              <c:pt idx="4">
                <c:v>45.9</c:v>
              </c:pt>
              <c:pt idx="5">
                <c:v>131.29</c:v>
              </c:pt>
            </c:numLit>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C-D705-4C58-AB01-50B548C993DD}"/>
            </c:ext>
          </c:extLst>
        </c:ser>
        <c:dLbls>
          <c:dLblPos val="outEnd"/>
          <c:showLegendKey val="0"/>
          <c:showVal val="1"/>
          <c:showCatName val="0"/>
          <c:showSerName val="0"/>
          <c:showPercent val="0"/>
          <c:showBubbleSize val="0"/>
        </c:dLbls>
        <c:gapWidth val="44"/>
        <c:axId val="48650112"/>
        <c:axId val="48672768"/>
      </c:barChart>
      <c:catAx>
        <c:axId val="48650112"/>
        <c:scaling>
          <c:orientation val="minMax"/>
        </c:scaling>
        <c:delete val="0"/>
        <c:axPos val="l"/>
        <c:majorGridlines>
          <c:spPr>
            <a:ln w="9525">
              <a:solidFill>
                <a:srgbClr val="D9E4EC"/>
              </a:solidFill>
              <a:prstDash val="dot"/>
            </a:ln>
          </c:spPr>
        </c:majorGridlines>
        <c:title>
          <c:tx>
            <c:rich>
              <a:bodyPr/>
              <a:lstStyle/>
              <a:p>
                <a:r>
                  <a:rPr lang="en-US" sz="975">
                    <a:solidFill>
                      <a:srgbClr val="405A70"/>
                    </a:solidFill>
                    <a:latin typeface="Segoe UI"/>
                    <a:ea typeface="Segoe UI"/>
                    <a:cs typeface="Segoe UI"/>
                  </a:rPr>
                  <a:t>Total claim cost ($M)</a:t>
                </a:r>
              </a:p>
            </c:rich>
          </c:tx>
          <c:overlay val="0"/>
        </c:title>
        <c:numFmt formatCode="General" sourceLinked="1"/>
        <c:majorTickMark val="none"/>
        <c:minorTickMark val="none"/>
        <c:tickLblPos val="nextTo"/>
        <c:spPr>
          <a:ln w="9525">
            <a:solidFill>
              <a:srgbClr val="D4D4D4"/>
            </a:solidFill>
            <a:prstDash val="solid"/>
          </a:ln>
        </c:spPr>
        <c:txPr>
          <a:bodyPr anchorCtr="1"/>
          <a:lstStyle/>
          <a:p>
            <a:pPr>
              <a:defRPr sz="900">
                <a:solidFill>
                  <a:srgbClr val="6F8598"/>
                </a:solidFill>
                <a:latin typeface="Segoe UI"/>
                <a:ea typeface="Segoe UI"/>
                <a:cs typeface="Segoe UI"/>
              </a:defRPr>
            </a:pPr>
            <a:endParaRPr lang="en-US"/>
          </a:p>
        </c:txPr>
        <c:crossAx val="48672768"/>
        <c:crosses val="autoZero"/>
        <c:auto val="1"/>
        <c:lblAlgn val="ctr"/>
        <c:lblOffset val="100"/>
        <c:noMultiLvlLbl val="1"/>
      </c:catAx>
      <c:valAx>
        <c:axId val="48672768"/>
        <c:scaling>
          <c:orientation val="minMax"/>
        </c:scaling>
        <c:delete val="0"/>
        <c:axPos val="b"/>
        <c:numFmt formatCode="General" sourceLinked="1"/>
        <c:majorTickMark val="none"/>
        <c:minorTickMark val="none"/>
        <c:tickLblPos val="nextTo"/>
        <c:spPr>
          <a:ln w="9525">
            <a:solidFill>
              <a:srgbClr val="D9E4EC"/>
            </a:solidFill>
            <a:prstDash val="solid"/>
          </a:ln>
        </c:spPr>
        <c:txPr>
          <a:bodyPr anchorCtr="1"/>
          <a:lstStyle/>
          <a:p>
            <a:pPr>
              <a:defRPr sz="1050">
                <a:solidFill>
                  <a:srgbClr val="405A70"/>
                </a:solidFill>
                <a:latin typeface="Segoe UI"/>
                <a:ea typeface="Segoe UI"/>
                <a:cs typeface="Segoe UI"/>
              </a:defRPr>
            </a:pPr>
            <a:endParaRPr lang="en-US"/>
          </a:p>
        </c:txPr>
        <c:crossAx val="48650112"/>
        <c:crosses val="autoZero"/>
        <c:crossBetween val="between"/>
      </c:valAx>
    </c:plotArea>
    <c:plotVisOnly val="1"/>
    <c:dispBlanksAs val="zero"/>
    <c:showDLblsOverMax val="1"/>
  </c:chart>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autoTitleDeleted val="1"/>
    <c:plotArea>
      <c:layout/>
      <c:lineChart>
        <c:grouping val="standard"/>
        <c:varyColors val="0"/>
        <c:ser>
          <c:idx val="0"/>
          <c:order val="0"/>
          <c:tx>
            <c:v>Active patients</c:v>
          </c:tx>
          <c:spPr>
            <a:ln w="38100">
              <a:solidFill>
                <a:srgbClr val="168AF4"/>
              </a:solidFill>
              <a:prstDash val="solid"/>
            </a:ln>
          </c:spPr>
          <c:marker>
            <c:symbol val="circle"/>
            <c:size val="7"/>
            <c:spPr>
              <a:solidFill>
                <a:srgbClr val="168AF4"/>
              </a:solidFill>
            </c:spPr>
          </c:marker>
          <c:cat>
            <c:numLit>
              <c:formatCode>General</c:formatCode>
              <c:ptCount val="12"/>
              <c:pt idx="0">
                <c:v>2010</c:v>
              </c:pt>
              <c:pt idx="1">
                <c:v>2011</c:v>
              </c:pt>
              <c:pt idx="2">
                <c:v>2012</c:v>
              </c:pt>
              <c:pt idx="3">
                <c:v>2013</c:v>
              </c:pt>
              <c:pt idx="4">
                <c:v>2014</c:v>
              </c:pt>
              <c:pt idx="5">
                <c:v>2015</c:v>
              </c:pt>
              <c:pt idx="6">
                <c:v>2016</c:v>
              </c:pt>
              <c:pt idx="7">
                <c:v>2017</c:v>
              </c:pt>
              <c:pt idx="8">
                <c:v>2018</c:v>
              </c:pt>
              <c:pt idx="9">
                <c:v>2019</c:v>
              </c:pt>
              <c:pt idx="10">
                <c:v>2020</c:v>
              </c:pt>
              <c:pt idx="11">
                <c:v>2021</c:v>
              </c:pt>
            </c:numLit>
          </c:cat>
          <c:val>
            <c:numLit>
              <c:formatCode>General</c:formatCode>
              <c:ptCount val="12"/>
              <c:pt idx="0">
                <c:v>529</c:v>
              </c:pt>
              <c:pt idx="1">
                <c:v>673</c:v>
              </c:pt>
              <c:pt idx="2">
                <c:v>874</c:v>
              </c:pt>
              <c:pt idx="3">
                <c:v>871</c:v>
              </c:pt>
              <c:pt idx="4">
                <c:v>891</c:v>
              </c:pt>
              <c:pt idx="5">
                <c:v>904</c:v>
              </c:pt>
              <c:pt idx="6">
                <c:v>899</c:v>
              </c:pt>
              <c:pt idx="7">
                <c:v>915</c:v>
              </c:pt>
              <c:pt idx="8">
                <c:v>922</c:v>
              </c:pt>
              <c:pt idx="9">
                <c:v>922</c:v>
              </c:pt>
              <c:pt idx="10">
                <c:v>945</c:v>
              </c:pt>
              <c:pt idx="11">
                <c:v>971</c:v>
              </c:pt>
            </c:numLit>
          </c:val>
          <c:smooth val="0"/>
          <c:extLst>
            <c:ext xmlns:c16="http://schemas.microsoft.com/office/drawing/2014/chart" uri="{C3380CC4-5D6E-409C-BE32-E72D297353CC}">
              <c16:uniqueId val="{00000000-FFE6-4F02-8FC9-CEAE58C4CAA7}"/>
            </c:ext>
          </c:extLst>
        </c:ser>
        <c:dLbls>
          <c:showLegendKey val="0"/>
          <c:showVal val="0"/>
          <c:showCatName val="0"/>
          <c:showSerName val="0"/>
          <c:showPercent val="0"/>
          <c:showBubbleSize val="0"/>
        </c:dLbls>
        <c:marker val="1"/>
        <c:smooth val="0"/>
        <c:axId val="48650112"/>
        <c:axId val="48672768"/>
      </c:lineChart>
      <c:catAx>
        <c:axId val="48650112"/>
        <c:scaling>
          <c:orientation val="minMax"/>
        </c:scaling>
        <c:delete val="0"/>
        <c:axPos val="b"/>
        <c:numFmt formatCode="General" sourceLinked="1"/>
        <c:majorTickMark val="none"/>
        <c:minorTickMark val="none"/>
        <c:tickLblPos val="nextTo"/>
        <c:spPr>
          <a:ln w="9525">
            <a:solidFill>
              <a:srgbClr val="D9E4EC"/>
            </a:solidFill>
            <a:prstDash val="solid"/>
          </a:ln>
        </c:spPr>
        <c:txPr>
          <a:bodyPr anchorCtr="1"/>
          <a:lstStyle/>
          <a:p>
            <a:pPr>
              <a:defRPr sz="900">
                <a:solidFill>
                  <a:srgbClr val="6F8598"/>
                </a:solidFill>
                <a:latin typeface="Segoe UI"/>
                <a:ea typeface="Segoe UI"/>
                <a:cs typeface="Segoe UI"/>
              </a:defRPr>
            </a:pPr>
            <a:endParaRPr lang="en-US"/>
          </a:p>
        </c:txPr>
        <c:crossAx val="48672768"/>
        <c:crosses val="autoZero"/>
        <c:auto val="1"/>
        <c:lblAlgn val="ctr"/>
        <c:lblOffset val="100"/>
        <c:noMultiLvlLbl val="1"/>
      </c:catAx>
      <c:valAx>
        <c:axId val="48672768"/>
        <c:scaling>
          <c:orientation val="minMax"/>
          <c:max val="1100"/>
          <c:min val="400"/>
        </c:scaling>
        <c:delete val="0"/>
        <c:axPos val="l"/>
        <c:majorGridlines>
          <c:spPr>
            <a:ln w="9525">
              <a:solidFill>
                <a:srgbClr val="D9E4EC"/>
              </a:solidFill>
              <a:prstDash val="dot"/>
            </a:ln>
          </c:spPr>
        </c:majorGridlines>
        <c:title>
          <c:tx>
            <c:rich>
              <a:bodyPr/>
              <a:lstStyle/>
              <a:p>
                <a:r>
                  <a:rPr lang="en-US" sz="975">
                    <a:solidFill>
                      <a:srgbClr val="405A70"/>
                    </a:solidFill>
                    <a:latin typeface="Segoe UI"/>
                    <a:ea typeface="Segoe UI"/>
                    <a:cs typeface="Segoe UI"/>
                  </a:rPr>
                  <a:t>Unique active patients</a:t>
                </a:r>
              </a:p>
            </c:rich>
          </c:tx>
          <c:overlay val="0"/>
        </c:title>
        <c:numFmt formatCode="General" sourceLinked="1"/>
        <c:majorTickMark val="none"/>
        <c:minorTickMark val="none"/>
        <c:tickLblPos val="nextTo"/>
        <c:spPr>
          <a:ln w="9525">
            <a:solidFill>
              <a:srgbClr val="D4D4D4"/>
            </a:solidFill>
            <a:prstDash val="solid"/>
          </a:ln>
        </c:spPr>
        <c:txPr>
          <a:bodyPr anchorCtr="1"/>
          <a:lstStyle/>
          <a:p>
            <a:pPr>
              <a:defRPr sz="900">
                <a:solidFill>
                  <a:srgbClr val="6F8598"/>
                </a:solidFill>
                <a:latin typeface="Segoe UI"/>
                <a:ea typeface="Segoe UI"/>
                <a:cs typeface="Segoe UI"/>
              </a:defRPr>
            </a:pPr>
            <a:endParaRPr lang="en-US"/>
          </a:p>
        </c:txPr>
        <c:crossAx val="48650112"/>
        <c:crosses val="autoZero"/>
        <c:crossBetween val="between"/>
        <c:majorUnit val="100"/>
      </c:valAx>
    </c:plotArea>
    <c:plotVisOnly val="1"/>
    <c:dispBlanksAs val="zero"/>
    <c:showDLblsOverMax val="1"/>
  </c:chart>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autoTitleDeleted val="1"/>
    <c:plotArea>
      <c:layout/>
      <c:barChart>
        <c:barDir val="bar"/>
        <c:grouping val="clustered"/>
        <c:varyColors val="0"/>
        <c:ser>
          <c:idx val="0"/>
          <c:order val="0"/>
          <c:tx>
            <c:v>Total claim cost ($M)</c:v>
          </c:tx>
          <c:spPr>
            <a:solidFill>
              <a:srgbClr val="C9E2F8"/>
            </a:solidFill>
          </c:spPr>
          <c:invertIfNegative val="1"/>
          <c:dPt>
            <c:idx val="0"/>
            <c:invertIfNegative val="0"/>
            <c:bubble3D val="0"/>
            <c:spPr>
              <a:solidFill>
                <a:srgbClr val="C9E2F8"/>
              </a:solidFill>
            </c:spPr>
            <c:extLst>
              <c:ext xmlns:c16="http://schemas.microsoft.com/office/drawing/2014/chart" uri="{C3380CC4-5D6E-409C-BE32-E72D297353CC}">
                <c16:uniqueId val="{00000001-8462-403A-9791-FA96926A13EF}"/>
              </c:ext>
            </c:extLst>
          </c:dPt>
          <c:dPt>
            <c:idx val="1"/>
            <c:invertIfNegative val="0"/>
            <c:bubble3D val="0"/>
            <c:spPr>
              <a:solidFill>
                <a:srgbClr val="168AF4"/>
              </a:solidFill>
            </c:spPr>
            <c:extLst>
              <c:ext xmlns:c16="http://schemas.microsoft.com/office/drawing/2014/chart" uri="{C3380CC4-5D6E-409C-BE32-E72D297353CC}">
                <c16:uniqueId val="{00000003-8462-403A-9791-FA96926A13EF}"/>
              </c:ext>
            </c:extLst>
          </c:dPt>
          <c:dLbls>
            <c:dLbl>
              <c:idx val="0"/>
              <c:tx>
                <c:rich>
                  <a:bodyPr/>
                  <a:lstStyle/>
                  <a:p>
                    <a:r>
                      <a:rPr lang="en-US" sz="975" b="1">
                        <a:solidFill>
                          <a:srgbClr val="172B3D"/>
                        </a:solidFill>
                      </a:rPr>
                      <a:t>$32.3M</a:t>
                    </a:r>
                  </a:p>
                </c:rich>
              </c:tx>
              <c:spPr/>
              <c:showLegendKey val="1"/>
              <c:showVal val="1"/>
              <c:showCatName val="1"/>
              <c:showSerName val="1"/>
              <c:showPercent val="1"/>
              <c:showBubbleSize val="1"/>
              <c:extLst>
                <c:ext xmlns:c15="http://schemas.microsoft.com/office/drawing/2012/chart" uri="{CE6537A1-D6FC-4f65-9D91-7224C49458BB}">
                  <c15:showDataLabelsRange val="0"/>
                </c:ext>
                <c:ext xmlns:c16="http://schemas.microsoft.com/office/drawing/2014/chart" uri="{C3380CC4-5D6E-409C-BE32-E72D297353CC}">
                  <c16:uniqueId val="{00000001-8462-403A-9791-FA96926A13EF}"/>
                </c:ext>
              </c:extLst>
            </c:dLbl>
            <c:dLbl>
              <c:idx val="1"/>
              <c:tx>
                <c:rich>
                  <a:bodyPr/>
                  <a:lstStyle/>
                  <a:p>
                    <a:r>
                      <a:rPr lang="en-US" sz="975" b="1">
                        <a:solidFill>
                          <a:srgbClr val="172B3D"/>
                        </a:solidFill>
                      </a:rPr>
                      <a:t>$101.5M</a:t>
                    </a:r>
                  </a:p>
                </c:rich>
              </c:tx>
              <c:spPr/>
              <c:showLegendKey val="1"/>
              <c:showVal val="1"/>
              <c:showCatName val="1"/>
              <c:showSerName val="1"/>
              <c:showPercent val="1"/>
              <c:showBubbleSize val="1"/>
              <c:extLst>
                <c:ext xmlns:c15="http://schemas.microsoft.com/office/drawing/2012/chart" uri="{CE6537A1-D6FC-4f65-9D91-7224C49458BB}">
                  <c15:showDataLabelsRange val="0"/>
                </c:ext>
                <c:ext xmlns:c16="http://schemas.microsoft.com/office/drawing/2014/chart" uri="{C3380CC4-5D6E-409C-BE32-E72D297353CC}">
                  <c16:uniqueId val="{00000003-8462-403A-9791-FA96926A13EF}"/>
                </c:ext>
              </c:extLst>
            </c:dLbl>
            <c:spPr>
              <a:noFill/>
              <a:ln>
                <a:noFill/>
              </a:ln>
              <a:effectLst/>
            </c:spPr>
            <c:showLegendKey val="1"/>
            <c:showVal val="1"/>
            <c:showCatName val="1"/>
            <c:showSerName val="1"/>
            <c:showPercent val="1"/>
            <c:showBubbleSize val="1"/>
            <c:showLeaderLines val="0"/>
            <c:extLst>
              <c:ext xmlns:c15="http://schemas.microsoft.com/office/drawing/2012/chart" uri="{CE6537A1-D6FC-4f65-9D91-7224C49458BB}">
                <c15:showLeaderLines val="0"/>
              </c:ext>
            </c:extLst>
          </c:dLbls>
          <c:cat>
            <c:strLit>
              <c:ptCount val="2"/>
              <c:pt idx="0">
                <c:v>Medicare</c:v>
              </c:pt>
              <c:pt idx="1">
                <c:v>No Insurance</c:v>
              </c:pt>
            </c:strLit>
          </c:cat>
          <c:val>
            <c:numLit>
              <c:formatCode>General</c:formatCode>
              <c:ptCount val="2"/>
              <c:pt idx="0">
                <c:v>32.299999999999997</c:v>
              </c:pt>
              <c:pt idx="1">
                <c:v>101.5</c:v>
              </c:pt>
            </c:numLit>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4-8462-403A-9791-FA96926A13EF}"/>
            </c:ext>
          </c:extLst>
        </c:ser>
        <c:dLbls>
          <c:dLblPos val="outEnd"/>
          <c:showLegendKey val="0"/>
          <c:showVal val="1"/>
          <c:showCatName val="0"/>
          <c:showSerName val="0"/>
          <c:showPercent val="0"/>
          <c:showBubbleSize val="0"/>
        </c:dLbls>
        <c:gapWidth val="65"/>
        <c:axId val="48650112"/>
        <c:axId val="48672768"/>
      </c:barChart>
      <c:catAx>
        <c:axId val="48650112"/>
        <c:scaling>
          <c:orientation val="minMax"/>
        </c:scaling>
        <c:delete val="0"/>
        <c:axPos val="l"/>
        <c:majorGridlines>
          <c:spPr>
            <a:ln w="9525">
              <a:solidFill>
                <a:srgbClr val="D9E4EC"/>
              </a:solidFill>
              <a:prstDash val="dot"/>
            </a:ln>
          </c:spPr>
        </c:majorGridlines>
        <c:title>
          <c:tx>
            <c:rich>
              <a:bodyPr/>
              <a:lstStyle/>
              <a:p>
                <a:r>
                  <a:rPr lang="en-US" sz="900">
                    <a:solidFill>
                      <a:srgbClr val="405A70"/>
                    </a:solidFill>
                    <a:latin typeface="Segoe UI"/>
                    <a:ea typeface="Segoe UI"/>
                    <a:cs typeface="Segoe UI"/>
                  </a:rPr>
                  <a:t>Total claim cost ($M)</a:t>
                </a:r>
              </a:p>
            </c:rich>
          </c:tx>
          <c:overlay val="0"/>
        </c:title>
        <c:numFmt formatCode="General" sourceLinked="1"/>
        <c:majorTickMark val="none"/>
        <c:minorTickMark val="none"/>
        <c:tickLblPos val="nextTo"/>
        <c:spPr>
          <a:ln w="9525">
            <a:solidFill>
              <a:srgbClr val="D4D4D4"/>
            </a:solidFill>
            <a:prstDash val="solid"/>
          </a:ln>
        </c:spPr>
        <c:txPr>
          <a:bodyPr anchorCtr="1"/>
          <a:lstStyle/>
          <a:p>
            <a:pPr>
              <a:defRPr sz="900">
                <a:solidFill>
                  <a:srgbClr val="6F8598"/>
                </a:solidFill>
                <a:latin typeface="Segoe UI"/>
                <a:ea typeface="Segoe UI"/>
                <a:cs typeface="Segoe UI"/>
              </a:defRPr>
            </a:pPr>
            <a:endParaRPr lang="en-US"/>
          </a:p>
        </c:txPr>
        <c:crossAx val="48672768"/>
        <c:crosses val="autoZero"/>
        <c:auto val="1"/>
        <c:lblAlgn val="ctr"/>
        <c:lblOffset val="100"/>
        <c:noMultiLvlLbl val="1"/>
      </c:catAx>
      <c:valAx>
        <c:axId val="48672768"/>
        <c:scaling>
          <c:orientation val="minMax"/>
        </c:scaling>
        <c:delete val="0"/>
        <c:axPos val="b"/>
        <c:numFmt formatCode="General" sourceLinked="1"/>
        <c:majorTickMark val="none"/>
        <c:minorTickMark val="none"/>
        <c:tickLblPos val="nextTo"/>
        <c:spPr>
          <a:ln w="9525">
            <a:solidFill>
              <a:srgbClr val="D9E4EC"/>
            </a:solidFill>
            <a:prstDash val="solid"/>
          </a:ln>
        </c:spPr>
        <c:txPr>
          <a:bodyPr anchorCtr="1"/>
          <a:lstStyle/>
          <a:p>
            <a:pPr>
              <a:defRPr sz="1050">
                <a:solidFill>
                  <a:srgbClr val="405A70"/>
                </a:solidFill>
                <a:latin typeface="Segoe UI"/>
                <a:ea typeface="Segoe UI"/>
                <a:cs typeface="Segoe UI"/>
              </a:defRPr>
            </a:pPr>
            <a:endParaRPr lang="en-US"/>
          </a:p>
        </c:txPr>
        <c:crossAx val="48650112"/>
        <c:crosses val="autoZero"/>
        <c:crossBetween val="between"/>
      </c:valAx>
    </c:plotArea>
    <c:plotVisOnly val="1"/>
    <c:dispBlanksAs val="zero"/>
    <c:showDLblsOverMax val="1"/>
  </c:chart>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autoTitleDeleted val="1"/>
    <c:plotArea>
      <c:layout/>
      <c:doughnutChart>
        <c:varyColors val="1"/>
        <c:ser>
          <c:idx val="0"/>
          <c:order val="0"/>
          <c:tx>
            <c:v>Claim cost</c:v>
          </c:tx>
          <c:dPt>
            <c:idx val="0"/>
            <c:bubble3D val="0"/>
            <c:spPr>
              <a:solidFill>
                <a:srgbClr val="19A79B"/>
              </a:solidFill>
            </c:spPr>
            <c:extLst>
              <c:ext xmlns:c16="http://schemas.microsoft.com/office/drawing/2014/chart" uri="{C3380CC4-5D6E-409C-BE32-E72D297353CC}">
                <c16:uniqueId val="{00000001-9397-40A3-8D09-6163DB2F8680}"/>
              </c:ext>
            </c:extLst>
          </c:dPt>
          <c:dPt>
            <c:idx val="1"/>
            <c:bubble3D val="0"/>
            <c:spPr>
              <a:solidFill>
                <a:srgbClr val="C9E2F8"/>
              </a:solidFill>
            </c:spPr>
            <c:extLst>
              <c:ext xmlns:c16="http://schemas.microsoft.com/office/drawing/2014/chart" uri="{C3380CC4-5D6E-409C-BE32-E72D297353CC}">
                <c16:uniqueId val="{00000003-9397-40A3-8D09-6163DB2F8680}"/>
              </c:ext>
            </c:extLst>
          </c:dPt>
          <c:dLbls>
            <c:numFmt formatCode="0.0%" sourceLinked="0"/>
            <c:spPr>
              <a:noFill/>
              <a:ln>
                <a:noFill/>
              </a:ln>
              <a:effectLst/>
            </c:spPr>
            <c:txPr>
              <a:bodyPr anchorCtr="1"/>
              <a:lstStyle/>
              <a:p>
                <a:pPr>
                  <a:defRPr sz="975" b="1">
                    <a:solidFill>
                      <a:srgbClr val="405A70"/>
                    </a:solidFill>
                    <a:latin typeface="Segoe UI"/>
                    <a:ea typeface="Segoe UI"/>
                    <a:cs typeface="Segoe UI"/>
                  </a:defRPr>
                </a:pPr>
                <a:endParaRPr lang="en-US"/>
              </a:p>
            </c:txPr>
            <c:showLegendKey val="0"/>
            <c:showVal val="0"/>
            <c:showCatName val="1"/>
            <c:showSerName val="0"/>
            <c:showPercent val="1"/>
            <c:showBubbleSize val="0"/>
            <c:separator>
</c:separator>
            <c:showLeaderLines val="0"/>
            <c:extLst>
              <c:ext xmlns:c15="http://schemas.microsoft.com/office/drawing/2012/chart" uri="{CE6537A1-D6FC-4f65-9D91-7224C49458BB}"/>
            </c:extLst>
          </c:dLbls>
          <c:cat>
            <c:strLit>
              <c:ptCount val="2"/>
              <c:pt idx="0">
                <c:v>Condition-linked</c:v>
              </c:pt>
              <c:pt idx="1">
                <c:v>No condition row</c:v>
              </c:pt>
            </c:strLit>
          </c:cat>
          <c:val>
            <c:numLit>
              <c:formatCode>General</c:formatCode>
              <c:ptCount val="2"/>
              <c:pt idx="0">
                <c:v>110.19</c:v>
              </c:pt>
              <c:pt idx="1">
                <c:v>144.84</c:v>
              </c:pt>
            </c:numLit>
          </c:val>
          <c:extLst>
            <c:ext xmlns:c16="http://schemas.microsoft.com/office/drawing/2014/chart" uri="{C3380CC4-5D6E-409C-BE32-E72D297353CC}">
              <c16:uniqueId val="{00000004-9397-40A3-8D09-6163DB2F8680}"/>
            </c:ext>
          </c:extLst>
        </c:ser>
        <c:dLbls>
          <c:showLegendKey val="0"/>
          <c:showVal val="0"/>
          <c:showCatName val="1"/>
          <c:showSerName val="0"/>
          <c:showPercent val="1"/>
          <c:showBubbleSize val="0"/>
          <c:separator>
</c:separator>
          <c:showLeaderLines val="0"/>
        </c:dLbls>
        <c:firstSliceAng val="270"/>
        <c:holeSize val="64"/>
      </c:doughnutChart>
    </c:plotArea>
    <c:plotVisOnly val="1"/>
    <c:dispBlanksAs val="zero"/>
    <c:showDLblsOverMax val="1"/>
  </c:chart>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Introduce the project as an end-to-end analytics case study covering ingestion, transformation, dimensional modeling, DAX, and Power BI reporting.</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Keep the problem statement narrow. This dashboard answers utilization, claim-cost concentration, condition volume, and organization volume questions. It does not claim to measure clinical quality or operational efficiency.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Walk from Synthea CSV files through raw_data, staging, analytics, and Power BI. The approach is ELT because the transformations occur inside SQL Server after loading.</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Explain the grain before discussing relationships. fact_encounter stores one encounter. fact_condition stores one condition occurrence, so an encounter can link to zero, one, or multiple condition rows.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is the finished one-page report. The annual or monthly selector changes the trend grain, while the top slicers filter the KPI and analytical visuals. The trend view shown here includes the full historical period.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main point is that encounter volume and spending are different questions. Pregnancy is associated with about $27M of ambulatory cost, but the condition is not an exclusive allocation and does not prove causation.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rise in total encounters did not come from patient growth alone. The active-patient population expanded, and the average encounter rate settled at about 3.4 per active patient after 2015. Do not infer a real-world cause for the 2014 peak.</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No Insurance category is a grouping from the payer data. The $101.5M is total claim cost associated with those encounters, not an amount paid by an insurer. Organization results describe the synthetic dataset and should not be interpreted as hospital performance.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About 43.2% of claim cost links to at least one condition row, while 56.8% belongs to encounters without a fact_condition record. Keep conditions as a utilization view and avoid presenting condition totals as a complete allocation of the $255M.</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F7FB70D7-D0FD-4FED-913A-6930675AF51F}"/>
              </a:ext>
            </a:extLst>
          </p:cNvPr>
          <p:cNvSpPr>
            <a:spLocks noGrp="1"/>
          </p:cNvSpPr>
          <p:nvPr>
            <p:ph type="title"/>
          </p:nvPr>
        </p:nvSpPr>
        <p:spPr>
          <a:xfrm>
            <a:off x="1219200" y="2590800"/>
            <a:ext cx="9753600" cy="990600"/>
          </a:xfrm>
          <a:prstGeom prst="rect">
            <a:avLst/>
          </a:prstGeom>
          <a:noFill/>
          <a:ln>
            <a:noFill/>
            <a:prstDash val="solid"/>
          </a:ln>
        </p:spPr>
        <p:txBody>
          <a:bodyPr wrap="square" lIns="0" tIns="0" rIns="0" bIns="0" anchor="ctr">
            <a:normAutofit/>
          </a:bodyPr>
          <a:lstStyle>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
        <p:nvSpPr>
          <p:cNvPr id="2" name="Subtitle">
            <a:extLst>
              <a:ext uri="{FF2B5EF4-FFF2-40B4-BE49-F238E27FC236}">
                <a16:creationId xmlns:a16="http://schemas.microsoft.com/office/drawing/2014/main" id="{0E779919-09C9-46DA-81E4-C675E52C6D0B}"/>
              </a:ext>
            </a:extLst>
          </p:cNvPr>
          <p:cNvSpPr>
            <a:spLocks noGrp="1"/>
          </p:cNvSpPr>
          <p:nvPr>
            <p:ph type="subTitle" idx="1"/>
          </p:nvPr>
        </p:nvSpPr>
        <p:spPr>
          <a:xfrm>
            <a:off x="1828800" y="3771900"/>
            <a:ext cx="8534400" cy="762000"/>
          </a:xfrm>
          <a:prstGeom prst="rect">
            <a:avLst/>
          </a:prstGeom>
          <a:noFill/>
          <a:ln>
            <a:noFill/>
            <a:prstDash val="solid"/>
          </a:ln>
        </p:spPr>
        <p:txBody>
          <a:bodyPr wrap="square" lIns="0" tIns="0" rIns="0" bIns="0" anchor="ctr">
            <a:normAutofit/>
          </a:bodyPr>
          <a:lstStyle>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cSld name="Section Header">
    <p:spTree>
      <p:nvGrpSpPr>
        <p:cNvPr id="1" name=""/>
        <p:cNvGrpSpPr/>
        <p:nvPr/>
      </p:nvGrpSpPr>
      <p:grpSpPr>
        <a:xfrm>
          <a:off x="0" y="0"/>
          <a:ext cx="0" cy="0"/>
          <a:chOff x="0" y="0"/>
          <a:chExt cx="0" cy="0"/>
        </a:xfrm>
      </p:grpSpPr>
      <p:sp>
        <p:nvSpPr>
          <p:cNvPr id="2" name="Section title">
            <a:extLst>
              <a:ext uri="{FF2B5EF4-FFF2-40B4-BE49-F238E27FC236}">
                <a16:creationId xmlns:a16="http://schemas.microsoft.com/office/drawing/2014/main" id="{093ED563-82D5-43D5-AEDD-ADD2298CA163}"/>
              </a:ext>
            </a:extLst>
          </p:cNvPr>
          <p:cNvSpPr>
            <a:spLocks noGrp="1"/>
          </p:cNvSpPr>
          <p:nvPr>
            <p:ph type="title"/>
          </p:nvPr>
        </p:nvSpPr>
        <p:spPr>
          <a:xfrm>
            <a:off x="1219200" y="2857500"/>
            <a:ext cx="9753600" cy="1143000"/>
          </a:xfrm>
          <a:prstGeom prst="rect">
            <a:avLst/>
          </a:prstGeom>
          <a:noFill/>
          <a:ln>
            <a:noFill/>
            <a:prstDash val="solid"/>
          </a:ln>
        </p:spPr>
        <p:txBody>
          <a:bodyPr wrap="square" lIns="0" tIns="0" rIns="0" bIns="0" anchor="ctr">
            <a:normAutofit/>
          </a:bodyPr>
          <a:lstStyle>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cSld name="Title and Body">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4FF8049B-CC50-4711-B0BD-A1A8AAF7A238}"/>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
        <p:nvSpPr>
          <p:cNvPr id="2" name="Body">
            <a:extLst>
              <a:ext uri="{FF2B5EF4-FFF2-40B4-BE49-F238E27FC236}">
                <a16:creationId xmlns:a16="http://schemas.microsoft.com/office/drawing/2014/main" id="{0C6EECD9-D14C-4B39-8809-66747E43C715}"/>
              </a:ext>
            </a:extLst>
          </p:cNvPr>
          <p:cNvSpPr>
            <a:spLocks noGrp="1"/>
          </p:cNvSpPr>
          <p:nvPr>
            <p:ph type="body" idx="1"/>
          </p:nvPr>
        </p:nvSpPr>
        <p:spPr>
          <a:xfrm>
            <a:off x="685800" y="1905000"/>
            <a:ext cx="10820400" cy="4267200"/>
          </a:xfrm>
          <a:prstGeom prst="rect">
            <a:avLst/>
          </a:prstGeom>
          <a:noFill/>
          <a:ln>
            <a:noFill/>
            <a:prstDash val="solid"/>
          </a:ln>
        </p:spPr>
        <p:txBody>
          <a:bodyPr wrap="square" lIns="0" tIns="0" rIns="0" bIns="0" anchor="t">
            <a:normAutofit/>
          </a:bodyPr>
          <a:lstStyle>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cSld name="Title and Two Column">
    <p:spTree>
      <p:nvGrpSpPr>
        <p:cNvPr id="1" name=""/>
        <p:cNvGrpSpPr/>
        <p:nvPr/>
      </p:nvGrpSpPr>
      <p:grpSpPr>
        <a:xfrm>
          <a:off x="0" y="0"/>
          <a:ext cx="0" cy="0"/>
          <a:chOff x="0" y="0"/>
          <a:chExt cx="0" cy="0"/>
        </a:xfrm>
      </p:grpSpPr>
      <p:sp>
        <p:nvSpPr>
          <p:cNvPr id="4" name="Title">
            <a:extLst>
              <a:ext uri="{FF2B5EF4-FFF2-40B4-BE49-F238E27FC236}">
                <a16:creationId xmlns:a16="http://schemas.microsoft.com/office/drawing/2014/main" id="{343F5780-6765-4195-BE6F-1706E983C2E9}"/>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
        <p:nvSpPr>
          <p:cNvPr id="2" name="Left column">
            <a:extLst>
              <a:ext uri="{FF2B5EF4-FFF2-40B4-BE49-F238E27FC236}">
                <a16:creationId xmlns:a16="http://schemas.microsoft.com/office/drawing/2014/main" id="{7E2BC837-08BA-4473-9CF4-AECE72D5030B}"/>
              </a:ext>
            </a:extLst>
          </p:cNvPr>
          <p:cNvSpPr>
            <a:spLocks noGrp="1"/>
          </p:cNvSpPr>
          <p:nvPr>
            <p:ph type="body" idx="1"/>
          </p:nvPr>
        </p:nvSpPr>
        <p:spPr>
          <a:xfrm>
            <a:off x="685800" y="1905000"/>
            <a:ext cx="5029200" cy="4267200"/>
          </a:xfrm>
          <a:prstGeom prst="rect">
            <a:avLst/>
          </a:prstGeom>
          <a:noFill/>
          <a:ln>
            <a:noFill/>
            <a:prstDash val="solid"/>
          </a:ln>
        </p:spPr>
        <p:txBody>
          <a:bodyPr wrap="square" lIns="0" tIns="0" rIns="0" bIns="0" anchor="t">
            <a:normAutofit/>
          </a:bodyPr>
          <a:lstStyle>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a:endParaRPr/>
          </a:p>
        </p:txBody>
      </p:sp>
      <p:sp>
        <p:nvSpPr>
          <p:cNvPr id="3" name="Right column">
            <a:extLst>
              <a:ext uri="{FF2B5EF4-FFF2-40B4-BE49-F238E27FC236}">
                <a16:creationId xmlns:a16="http://schemas.microsoft.com/office/drawing/2014/main" id="{BF3DD91E-CC84-46D0-9395-EC04A2FF4B76}"/>
              </a:ext>
            </a:extLst>
          </p:cNvPr>
          <p:cNvSpPr>
            <a:spLocks noGrp="1"/>
          </p:cNvSpPr>
          <p:nvPr>
            <p:ph type="body" idx="2"/>
          </p:nvPr>
        </p:nvSpPr>
        <p:spPr>
          <a:xfrm>
            <a:off x="6477000" y="1905000"/>
            <a:ext cx="5029200" cy="4267200"/>
          </a:xfrm>
          <a:prstGeom prst="rect">
            <a:avLst/>
          </a:prstGeom>
          <a:noFill/>
          <a:ln>
            <a:noFill/>
            <a:prstDash val="solid"/>
          </a:ln>
        </p:spPr>
        <p:txBody>
          <a:bodyPr wrap="square" lIns="0" tIns="0" rIns="0" bIns="0" anchor="t">
            <a:normAutofit/>
          </a:bodyPr>
          <a:lstStyle>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cSld name="Title and One Column">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C24E5D11-B27F-46DB-A249-22917481ED65}"/>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
        <p:nvSpPr>
          <p:cNvPr id="2" name="Left column">
            <a:extLst>
              <a:ext uri="{FF2B5EF4-FFF2-40B4-BE49-F238E27FC236}">
                <a16:creationId xmlns:a16="http://schemas.microsoft.com/office/drawing/2014/main" id="{A2C6AC28-8985-4AC5-8E04-966F5E5B658F}"/>
              </a:ext>
            </a:extLst>
          </p:cNvPr>
          <p:cNvSpPr>
            <a:spLocks noGrp="1"/>
          </p:cNvSpPr>
          <p:nvPr>
            <p:ph type="body" idx="1"/>
          </p:nvPr>
        </p:nvSpPr>
        <p:spPr>
          <a:xfrm>
            <a:off x="685800" y="1905000"/>
            <a:ext cx="5029200" cy="4267200"/>
          </a:xfrm>
          <a:prstGeom prst="rect">
            <a:avLst/>
          </a:prstGeom>
          <a:noFill/>
          <a:ln>
            <a:noFill/>
            <a:prstDash val="solid"/>
          </a:ln>
        </p:spPr>
        <p:txBody>
          <a:bodyPr wrap="square" lIns="0" tIns="0" rIns="0" bIns="0" anchor="t">
            <a:normAutofit/>
          </a:bodyPr>
          <a:lstStyle>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6.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B3557"/>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8858169-BF6C-4092-B3FC-E59B7866A56A}"/>
              </a:ext>
            </a:extLst>
          </p:cNvPr>
          <p:cNvSpPr>
            <a:spLocks noGrp="1"/>
          </p:cNvSpPr>
          <p:nvPr/>
        </p:nvSpPr>
        <p:spPr>
          <a:xfrm>
            <a:off x="0" y="0"/>
            <a:ext cx="133350" cy="6858000"/>
          </a:xfrm>
          <a:prstGeom prst="rect">
            <a:avLst/>
          </a:prstGeom>
          <a:solidFill>
            <a:srgbClr val="168AF4"/>
          </a:solidFill>
          <a:ln w="0">
            <a:noFill/>
            <a:prstDash val="solid"/>
          </a:ln>
        </p:spPr>
        <p:txBody>
          <a:bodyPr/>
          <a:lstStyle/>
          <a:p>
            <a:endParaRPr lang="en-US"/>
          </a:p>
        </p:txBody>
      </p:sp>
      <p:pic>
        <p:nvPicPr>
          <p:cNvPr id="2" name="Picture 1">
            <a:extLst>
              <a:ext uri="{FF2B5EF4-FFF2-40B4-BE49-F238E27FC236}">
                <a16:creationId xmlns:a16="http://schemas.microsoft.com/office/drawing/2014/main" id="{F49A2F9C-3DA4-41B9-8FDC-3BA67A53784A}"/>
              </a:ext>
            </a:extLst>
          </p:cNvPr>
          <p:cNvPicPr>
            <a:picLocks noChangeAspect="1"/>
          </p:cNvPicPr>
          <p:nvPr/>
        </p:nvPicPr>
        <p:blipFill>
          <a:blip r:embed="rId3"/>
          <a:stretch/>
        </p:blipFill>
        <p:spPr>
          <a:xfrm>
            <a:off x="723900" y="876300"/>
            <a:ext cx="1009650" cy="1009650"/>
          </a:xfrm>
          <a:prstGeom prst="rect">
            <a:avLst/>
          </a:prstGeom>
        </p:spPr>
      </p:pic>
      <p:sp>
        <p:nvSpPr>
          <p:cNvPr id="3" name="Rectangle 2">
            <a:extLst>
              <a:ext uri="{FF2B5EF4-FFF2-40B4-BE49-F238E27FC236}">
                <a16:creationId xmlns:a16="http://schemas.microsoft.com/office/drawing/2014/main" id="{50907227-7BE6-4F1A-BF92-D804E63D1BB2}"/>
              </a:ext>
            </a:extLst>
          </p:cNvPr>
          <p:cNvSpPr>
            <a:spLocks noGrp="1"/>
          </p:cNvSpPr>
          <p:nvPr/>
        </p:nvSpPr>
        <p:spPr>
          <a:xfrm>
            <a:off x="723900" y="2171700"/>
            <a:ext cx="8096250" cy="1524000"/>
          </a:xfrm>
          <a:prstGeom prst="rect">
            <a:avLst/>
          </a:prstGeom>
          <a:noFill/>
          <a:ln w="0">
            <a:noFill/>
            <a:prstDash val="solid"/>
          </a:ln>
        </p:spPr>
        <p:txBody>
          <a:bodyPr lIns="0" tIns="0" rIns="0" bIns="0" anchor="t">
            <a:normAutofit/>
          </a:bodyPr>
          <a:lstStyle>
            <a:defPPr algn="l">
              <a:defRPr sz="3675" b="1">
                <a:solidFill>
                  <a:srgbClr val="FFFFFF"/>
                </a:solidFill>
                <a:latin typeface="Segoe UI"/>
                <a:ea typeface="Segoe UI"/>
                <a:cs typeface="Segoe UI"/>
              </a:defRPr>
            </a:defPPr>
          </a:lstStyle>
          <a:p>
            <a:pPr algn="l">
              <a:defRPr sz="3675" b="1">
                <a:solidFill>
                  <a:srgbClr val="FFFFFF"/>
                </a:solidFill>
                <a:latin typeface="Segoe UI"/>
                <a:ea typeface="Segoe UI"/>
                <a:cs typeface="Segoe UI"/>
              </a:defRPr>
            </a:pPr>
            <a:r>
              <a:rPr sz="3675" b="1">
                <a:solidFill>
                  <a:srgbClr val="FFFFFF"/>
                </a:solidFill>
                <a:latin typeface="Segoe UI"/>
                <a:ea typeface="Segoe UI"/>
                <a:cs typeface="Segoe UI"/>
              </a:rPr>
              <a:t>Healthcare Claims &amp;</a:t>
            </a:r>
          </a:p>
          <a:p>
            <a:pPr algn="l">
              <a:defRPr sz="3675" b="1">
                <a:solidFill>
                  <a:srgbClr val="FFFFFF"/>
                </a:solidFill>
                <a:latin typeface="Segoe UI"/>
                <a:ea typeface="Segoe UI"/>
                <a:cs typeface="Segoe UI"/>
              </a:defRPr>
            </a:pPr>
            <a:r>
              <a:rPr sz="3675" b="1">
                <a:solidFill>
                  <a:srgbClr val="FFFFFF"/>
                </a:solidFill>
                <a:latin typeface="Segoe UI"/>
                <a:ea typeface="Segoe UI"/>
                <a:cs typeface="Segoe UI"/>
              </a:rPr>
              <a:t>Patient Utilization Analytics</a:t>
            </a:r>
          </a:p>
        </p:txBody>
      </p:sp>
      <p:sp>
        <p:nvSpPr>
          <p:cNvPr id="4" name="Rectangle 3">
            <a:extLst>
              <a:ext uri="{FF2B5EF4-FFF2-40B4-BE49-F238E27FC236}">
                <a16:creationId xmlns:a16="http://schemas.microsoft.com/office/drawing/2014/main" id="{3D9944E1-A318-4A4B-8FDB-5668ED8BA3F9}"/>
              </a:ext>
            </a:extLst>
          </p:cNvPr>
          <p:cNvSpPr>
            <a:spLocks noGrp="1"/>
          </p:cNvSpPr>
          <p:nvPr/>
        </p:nvSpPr>
        <p:spPr>
          <a:xfrm>
            <a:off x="762000" y="3876675"/>
            <a:ext cx="7239000" cy="428625"/>
          </a:xfrm>
          <a:prstGeom prst="rect">
            <a:avLst/>
          </a:prstGeom>
          <a:noFill/>
          <a:ln w="0">
            <a:noFill/>
            <a:prstDash val="solid"/>
          </a:ln>
        </p:spPr>
        <p:txBody>
          <a:bodyPr lIns="0" tIns="0" rIns="0" bIns="0" anchor="t">
            <a:normAutofit/>
          </a:bodyPr>
          <a:lstStyle>
            <a:defPPr algn="l">
              <a:defRPr sz="1800" b="0">
                <a:solidFill>
                  <a:srgbClr val="CFE3F2"/>
                </a:solidFill>
                <a:latin typeface="Segoe UI"/>
                <a:ea typeface="Segoe UI"/>
                <a:cs typeface="Segoe UI"/>
              </a:defRPr>
            </a:defPPr>
          </a:lstStyle>
          <a:p>
            <a:pPr algn="l">
              <a:defRPr sz="1800" b="0">
                <a:solidFill>
                  <a:srgbClr val="CFE3F2"/>
                </a:solidFill>
                <a:latin typeface="Segoe UI"/>
                <a:ea typeface="Segoe UI"/>
                <a:cs typeface="Segoe UI"/>
              </a:defRPr>
            </a:pPr>
            <a:r>
              <a:rPr sz="1800" b="0" dirty="0">
                <a:solidFill>
                  <a:srgbClr val="CFE3F2"/>
                </a:solidFill>
                <a:latin typeface="Segoe UI"/>
                <a:ea typeface="Segoe UI"/>
                <a:cs typeface="Segoe UI"/>
              </a:rPr>
              <a:t>SQL Server data warehouse and Power BI </a:t>
            </a:r>
            <a:r>
              <a:rPr lang="en-US" dirty="0">
                <a:solidFill>
                  <a:srgbClr val="CFE3F2"/>
                </a:solidFill>
                <a:latin typeface="Segoe UI"/>
                <a:ea typeface="Segoe UI"/>
                <a:cs typeface="Segoe UI"/>
              </a:rPr>
              <a:t>Dashboard</a:t>
            </a:r>
            <a:endParaRPr sz="1800" b="0" dirty="0">
              <a:solidFill>
                <a:srgbClr val="CFE3F2"/>
              </a:solidFill>
              <a:latin typeface="Segoe UI"/>
              <a:ea typeface="Segoe UI"/>
              <a:cs typeface="Segoe UI"/>
            </a:endParaRPr>
          </a:p>
        </p:txBody>
      </p:sp>
      <p:sp>
        <p:nvSpPr>
          <p:cNvPr id="5" name="Rectangle 4">
            <a:extLst>
              <a:ext uri="{FF2B5EF4-FFF2-40B4-BE49-F238E27FC236}">
                <a16:creationId xmlns:a16="http://schemas.microsoft.com/office/drawing/2014/main" id="{07C243D7-E29C-4300-8FB1-F54E21983C6E}"/>
              </a:ext>
            </a:extLst>
          </p:cNvPr>
          <p:cNvSpPr>
            <a:spLocks noGrp="1"/>
          </p:cNvSpPr>
          <p:nvPr/>
        </p:nvSpPr>
        <p:spPr>
          <a:xfrm>
            <a:off x="762000" y="4572000"/>
            <a:ext cx="4953000" cy="38100"/>
          </a:xfrm>
          <a:prstGeom prst="rect">
            <a:avLst/>
          </a:prstGeom>
          <a:solidFill>
            <a:srgbClr val="19A79B"/>
          </a:solidFill>
          <a:ln w="0">
            <a:noFill/>
            <a:prstDash val="solid"/>
          </a:ln>
        </p:spPr>
        <p:txBody>
          <a:bodyPr/>
          <a:lstStyle/>
          <a:p>
            <a:endParaRPr lang="en-US"/>
          </a:p>
        </p:txBody>
      </p:sp>
      <p:sp>
        <p:nvSpPr>
          <p:cNvPr id="6" name="Rectangle 5">
            <a:extLst>
              <a:ext uri="{FF2B5EF4-FFF2-40B4-BE49-F238E27FC236}">
                <a16:creationId xmlns:a16="http://schemas.microsoft.com/office/drawing/2014/main" id="{93DCFCA1-3DC6-411E-A064-3EB2C5195870}"/>
              </a:ext>
            </a:extLst>
          </p:cNvPr>
          <p:cNvSpPr>
            <a:spLocks noGrp="1"/>
          </p:cNvSpPr>
          <p:nvPr/>
        </p:nvSpPr>
        <p:spPr>
          <a:xfrm>
            <a:off x="762000" y="4838700"/>
            <a:ext cx="6858000" cy="342900"/>
          </a:xfrm>
          <a:prstGeom prst="rect">
            <a:avLst/>
          </a:prstGeom>
          <a:noFill/>
          <a:ln w="0">
            <a:noFill/>
            <a:prstDash val="solid"/>
          </a:ln>
        </p:spPr>
        <p:txBody>
          <a:bodyPr lIns="0" tIns="0" rIns="0" bIns="0" anchor="t">
            <a:normAutofit/>
          </a:bodyPr>
          <a:lstStyle>
            <a:defPPr algn="l">
              <a:defRPr sz="1350" b="0">
                <a:solidFill>
                  <a:srgbClr val="BBD2E3"/>
                </a:solidFill>
                <a:latin typeface="Segoe UI"/>
                <a:ea typeface="Segoe UI"/>
                <a:cs typeface="Segoe UI"/>
              </a:defRPr>
            </a:defPPr>
          </a:lstStyle>
          <a:p>
            <a:pPr algn="l">
              <a:defRPr sz="1350" b="0">
                <a:solidFill>
                  <a:srgbClr val="BBD2E3"/>
                </a:solidFill>
                <a:latin typeface="Segoe UI"/>
                <a:ea typeface="Segoe UI"/>
                <a:cs typeface="Segoe UI"/>
              </a:defRPr>
            </a:pPr>
            <a:r>
              <a:rPr sz="1350" b="0">
                <a:solidFill>
                  <a:srgbClr val="BBD2E3"/>
                </a:solidFill>
                <a:latin typeface="Segoe UI"/>
                <a:ea typeface="Segoe UI"/>
                <a:cs typeface="Segoe UI"/>
              </a:rPr>
              <a:t>SQL Server   Power BI   DAX   Dimensional modeling</a:t>
            </a:r>
          </a:p>
        </p:txBody>
      </p:sp>
      <p:sp>
        <p:nvSpPr>
          <p:cNvPr id="7" name="Rectangle 6">
            <a:extLst>
              <a:ext uri="{FF2B5EF4-FFF2-40B4-BE49-F238E27FC236}">
                <a16:creationId xmlns:a16="http://schemas.microsoft.com/office/drawing/2014/main" id="{95B45E3C-47AD-4682-A2C7-F5FC0EA3BFDD}"/>
              </a:ext>
            </a:extLst>
          </p:cNvPr>
          <p:cNvSpPr>
            <a:spLocks noGrp="1"/>
          </p:cNvSpPr>
          <p:nvPr/>
        </p:nvSpPr>
        <p:spPr>
          <a:xfrm>
            <a:off x="762000" y="6191250"/>
            <a:ext cx="6191250" cy="228600"/>
          </a:xfrm>
          <a:prstGeom prst="rect">
            <a:avLst/>
          </a:prstGeom>
          <a:noFill/>
          <a:ln w="0">
            <a:noFill/>
            <a:prstDash val="solid"/>
          </a:ln>
        </p:spPr>
        <p:txBody>
          <a:bodyPr lIns="0" tIns="0" rIns="0" bIns="0" anchor="t">
            <a:normAutofit/>
          </a:bodyPr>
          <a:lstStyle>
            <a:defPPr algn="l">
              <a:defRPr sz="975" b="0">
                <a:solidFill>
                  <a:srgbClr val="9FBDD2"/>
                </a:solidFill>
                <a:latin typeface="Segoe UI"/>
                <a:ea typeface="Segoe UI"/>
                <a:cs typeface="Segoe UI"/>
              </a:defRPr>
            </a:defPPr>
          </a:lstStyle>
          <a:p>
            <a:pPr algn="l">
              <a:defRPr sz="975" b="0">
                <a:solidFill>
                  <a:srgbClr val="9FBDD2"/>
                </a:solidFill>
                <a:latin typeface="Segoe UI"/>
                <a:ea typeface="Segoe UI"/>
                <a:cs typeface="Segoe UI"/>
              </a:defRPr>
            </a:pPr>
            <a:r>
              <a:rPr sz="975" b="0">
                <a:solidFill>
                  <a:srgbClr val="9FBDD2"/>
                </a:solidFill>
                <a:latin typeface="Segoe UI"/>
                <a:ea typeface="Segoe UI"/>
                <a:cs typeface="Segoe UI"/>
              </a:rPr>
              <a:t>Synthetic healthcare data generated by Synthea</a:t>
            </a:r>
          </a:p>
        </p:txBody>
      </p:sp>
      <p:sp>
        <p:nvSpPr>
          <p:cNvPr id="8" name="Rectangle 7">
            <a:extLst>
              <a:ext uri="{FF2B5EF4-FFF2-40B4-BE49-F238E27FC236}">
                <a16:creationId xmlns:a16="http://schemas.microsoft.com/office/drawing/2014/main" id="{FF8CD8C1-C548-4B51-A6EA-5FF41CFB6808}"/>
              </a:ext>
            </a:extLst>
          </p:cNvPr>
          <p:cNvSpPr>
            <a:spLocks noGrp="1"/>
          </p:cNvSpPr>
          <p:nvPr/>
        </p:nvSpPr>
        <p:spPr>
          <a:xfrm>
            <a:off x="9096375" y="914400"/>
            <a:ext cx="2381250" cy="266700"/>
          </a:xfrm>
          <a:prstGeom prst="rect">
            <a:avLst/>
          </a:prstGeom>
          <a:noFill/>
          <a:ln w="0">
            <a:noFill/>
            <a:prstDash val="solid"/>
          </a:ln>
        </p:spPr>
        <p:txBody>
          <a:bodyPr lIns="0" tIns="0" rIns="0" bIns="0" anchor="t">
            <a:normAutofit/>
          </a:bodyPr>
          <a:lstStyle>
            <a:defPPr algn="r">
              <a:defRPr sz="975" b="1">
                <a:solidFill>
                  <a:srgbClr val="57D7EA"/>
                </a:solidFill>
                <a:latin typeface="Segoe UI"/>
                <a:ea typeface="Segoe UI"/>
                <a:cs typeface="Segoe UI"/>
              </a:defRPr>
            </a:defPPr>
          </a:lstStyle>
          <a:p>
            <a:pPr algn="r">
              <a:defRPr sz="975" b="1">
                <a:solidFill>
                  <a:srgbClr val="57D7EA"/>
                </a:solidFill>
                <a:latin typeface="Segoe UI"/>
                <a:ea typeface="Segoe UI"/>
                <a:cs typeface="Segoe UI"/>
              </a:defRPr>
            </a:pPr>
            <a:r>
              <a:rPr sz="975" b="1">
                <a:solidFill>
                  <a:srgbClr val="57D7EA"/>
                </a:solidFill>
                <a:latin typeface="Segoe UI"/>
                <a:ea typeface="Segoe UI"/>
                <a:cs typeface="Segoe UI"/>
              </a:rPr>
              <a:t>PORTFOLIO PROJECT</a:t>
            </a:r>
          </a:p>
        </p:txBody>
      </p:sp>
    </p:spTree>
    <p:extLst>
      <p:ext uri="{BB962C8B-B14F-4D97-AF65-F5344CB8AC3E}">
        <p14:creationId xmlns:p14="http://schemas.microsoft.com/office/powerpoint/2010/main" val="193855063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AB617D1B-C1A9-4F82-A852-C54E87CA8FB9}"/>
              </a:ext>
            </a:extLst>
          </p:cNvPr>
          <p:cNvSpPr>
            <a:spLocks noGrp="1"/>
          </p:cNvSpPr>
          <p:nvPr/>
        </p:nvSpPr>
        <p:spPr>
          <a:xfrm>
            <a:off x="0" y="0"/>
            <a:ext cx="12192000" cy="76200"/>
          </a:xfrm>
          <a:prstGeom prst="rect">
            <a:avLst/>
          </a:prstGeom>
          <a:solidFill>
            <a:srgbClr val="114873"/>
          </a:solidFill>
          <a:ln w="0">
            <a:noFill/>
            <a:prstDash val="solid"/>
          </a:ln>
        </p:spPr>
        <p:txBody>
          <a:bodyPr/>
          <a:lstStyle/>
          <a:p>
            <a:endParaRPr lang="en-US"/>
          </a:p>
        </p:txBody>
      </p:sp>
      <p:sp>
        <p:nvSpPr>
          <p:cNvPr id="2" name="Rectangle 1">
            <a:extLst>
              <a:ext uri="{FF2B5EF4-FFF2-40B4-BE49-F238E27FC236}">
                <a16:creationId xmlns:a16="http://schemas.microsoft.com/office/drawing/2014/main" id="{4EFCEBA2-4A6D-4847-B6E3-629116F9CC06}"/>
              </a:ext>
            </a:extLst>
          </p:cNvPr>
          <p:cNvSpPr>
            <a:spLocks noGrp="1"/>
          </p:cNvSpPr>
          <p:nvPr/>
        </p:nvSpPr>
        <p:spPr>
          <a:xfrm>
            <a:off x="609600" y="285750"/>
            <a:ext cx="9906000" cy="495300"/>
          </a:xfrm>
          <a:prstGeom prst="rect">
            <a:avLst/>
          </a:prstGeom>
          <a:noFill/>
          <a:ln w="0">
            <a:noFill/>
            <a:prstDash val="solid"/>
          </a:ln>
        </p:spPr>
        <p:txBody>
          <a:bodyPr lIns="0" tIns="0" rIns="0" bIns="0" anchor="ctr">
            <a:normAutofit/>
          </a:bodyPr>
          <a:lstStyle>
            <a:defPPr algn="l">
              <a:defRPr sz="2550" b="1">
                <a:solidFill>
                  <a:srgbClr val="114873"/>
                </a:solidFill>
                <a:latin typeface="Segoe UI"/>
                <a:ea typeface="Segoe UI"/>
                <a:cs typeface="Segoe UI"/>
              </a:defRPr>
            </a:defPPr>
          </a:lstStyle>
          <a:p>
            <a:pPr algn="l">
              <a:defRPr sz="2550" b="1">
                <a:solidFill>
                  <a:srgbClr val="114873"/>
                </a:solidFill>
                <a:latin typeface="Segoe UI"/>
                <a:ea typeface="Segoe UI"/>
                <a:cs typeface="Segoe UI"/>
              </a:defRPr>
            </a:pPr>
            <a:r>
              <a:rPr sz="2550" b="1">
                <a:solidFill>
                  <a:srgbClr val="114873"/>
                </a:solidFill>
                <a:latin typeface="Segoe UI"/>
                <a:ea typeface="Segoe UI"/>
                <a:cs typeface="Segoe UI"/>
              </a:rPr>
              <a:t>Business context and project scope</a:t>
            </a:r>
          </a:p>
        </p:txBody>
      </p:sp>
      <p:sp>
        <p:nvSpPr>
          <p:cNvPr id="3" name="Rectangle 2">
            <a:extLst>
              <a:ext uri="{FF2B5EF4-FFF2-40B4-BE49-F238E27FC236}">
                <a16:creationId xmlns:a16="http://schemas.microsoft.com/office/drawing/2014/main" id="{F63F8E2D-984E-4DD6-AADB-1F245703B827}"/>
              </a:ext>
            </a:extLst>
          </p:cNvPr>
          <p:cNvSpPr>
            <a:spLocks noGrp="1"/>
          </p:cNvSpPr>
          <p:nvPr/>
        </p:nvSpPr>
        <p:spPr>
          <a:xfrm>
            <a:off x="628650" y="781050"/>
            <a:ext cx="10287000" cy="304800"/>
          </a:xfrm>
          <a:prstGeom prst="rect">
            <a:avLst/>
          </a:prstGeom>
          <a:noFill/>
          <a:ln w="0">
            <a:noFill/>
            <a:prstDash val="solid"/>
          </a:ln>
        </p:spPr>
        <p:txBody>
          <a:bodyPr lIns="0" tIns="0" rIns="0" bIns="0" anchor="ctr">
            <a:normAutofit/>
          </a:bodyPr>
          <a:lstStyle>
            <a:defPPr algn="l">
              <a:defRPr sz="1200" b="0">
                <a:solidFill>
                  <a:srgbClr val="6F8598"/>
                </a:solidFill>
                <a:latin typeface="Segoe UI"/>
                <a:ea typeface="Segoe UI"/>
                <a:cs typeface="Segoe UI"/>
              </a:defRPr>
            </a:defPPr>
          </a:lstStyle>
          <a:p>
            <a:pPr algn="l">
              <a:defRPr sz="1200" b="0">
                <a:solidFill>
                  <a:srgbClr val="6F8598"/>
                </a:solidFill>
                <a:latin typeface="Segoe UI"/>
                <a:ea typeface="Segoe UI"/>
                <a:cs typeface="Segoe UI"/>
              </a:defRPr>
            </a:pPr>
            <a:r>
              <a:rPr sz="1200" b="0">
                <a:solidFill>
                  <a:srgbClr val="6F8598"/>
                </a:solidFill>
                <a:latin typeface="Segoe UI"/>
                <a:ea typeface="Segoe UI"/>
                <a:cs typeface="Segoe UI"/>
              </a:rPr>
              <a:t>A focused healthcare utilization and claim-cost analytics case study</a:t>
            </a:r>
          </a:p>
        </p:txBody>
      </p:sp>
      <p:sp>
        <p:nvSpPr>
          <p:cNvPr id="4" name="Rectangle 3">
            <a:extLst>
              <a:ext uri="{FF2B5EF4-FFF2-40B4-BE49-F238E27FC236}">
                <a16:creationId xmlns:a16="http://schemas.microsoft.com/office/drawing/2014/main" id="{1DAE3918-B945-4A9A-B4EC-0DE20713C944}"/>
              </a:ext>
            </a:extLst>
          </p:cNvPr>
          <p:cNvSpPr>
            <a:spLocks noGrp="1"/>
          </p:cNvSpPr>
          <p:nvPr/>
        </p:nvSpPr>
        <p:spPr>
          <a:xfrm>
            <a:off x="11144250" y="361950"/>
            <a:ext cx="457200" cy="285750"/>
          </a:xfrm>
          <a:prstGeom prst="rect">
            <a:avLst/>
          </a:prstGeom>
          <a:noFill/>
          <a:ln w="0">
            <a:noFill/>
            <a:prstDash val="solid"/>
          </a:ln>
        </p:spPr>
        <p:txBody>
          <a:bodyPr lIns="0" tIns="0" rIns="0" bIns="0" anchor="t">
            <a:normAutofit/>
          </a:bodyPr>
          <a:lstStyle>
            <a:defPPr algn="r">
              <a:defRPr sz="1050" b="1">
                <a:solidFill>
                  <a:srgbClr val="6F8598"/>
                </a:solidFill>
                <a:latin typeface="Segoe UI"/>
                <a:ea typeface="Segoe UI"/>
                <a:cs typeface="Segoe UI"/>
              </a:defRPr>
            </a:defPPr>
          </a:lstStyle>
          <a:p>
            <a:pPr algn="r">
              <a:defRPr sz="1050" b="1">
                <a:solidFill>
                  <a:srgbClr val="6F8598"/>
                </a:solidFill>
                <a:latin typeface="Segoe UI"/>
                <a:ea typeface="Segoe UI"/>
                <a:cs typeface="Segoe UI"/>
              </a:defRPr>
            </a:pPr>
            <a:r>
              <a:rPr sz="1050" b="1">
                <a:solidFill>
                  <a:srgbClr val="6F8598"/>
                </a:solidFill>
                <a:latin typeface="Segoe UI"/>
                <a:ea typeface="Segoe UI"/>
                <a:cs typeface="Segoe UI"/>
              </a:rPr>
              <a:t>02</a:t>
            </a:r>
          </a:p>
        </p:txBody>
      </p:sp>
      <p:sp>
        <p:nvSpPr>
          <p:cNvPr id="5" name="Rectangle 4">
            <a:extLst>
              <a:ext uri="{FF2B5EF4-FFF2-40B4-BE49-F238E27FC236}">
                <a16:creationId xmlns:a16="http://schemas.microsoft.com/office/drawing/2014/main" id="{48D2F96C-0890-44C2-92EA-8B3A44FCA2C5}"/>
              </a:ext>
            </a:extLst>
          </p:cNvPr>
          <p:cNvSpPr>
            <a:spLocks noGrp="1"/>
          </p:cNvSpPr>
          <p:nvPr/>
        </p:nvSpPr>
        <p:spPr>
          <a:xfrm>
            <a:off x="685800" y="1381125"/>
            <a:ext cx="2381250" cy="266700"/>
          </a:xfrm>
          <a:prstGeom prst="rect">
            <a:avLst/>
          </a:prstGeom>
          <a:noFill/>
          <a:ln w="0">
            <a:noFill/>
            <a:prstDash val="solid"/>
          </a:ln>
        </p:spPr>
        <p:txBody>
          <a:bodyPr lIns="0" tIns="0" rIns="0" bIns="0" anchor="t">
            <a:normAutofit/>
          </a:bodyPr>
          <a:lstStyle>
            <a:defPPr algn="l">
              <a:defRPr sz="1125" b="1">
                <a:solidFill>
                  <a:srgbClr val="19A79B"/>
                </a:solidFill>
                <a:latin typeface="Segoe UI"/>
                <a:ea typeface="Segoe UI"/>
                <a:cs typeface="Segoe UI"/>
              </a:defRPr>
            </a:defPPr>
          </a:lstStyle>
          <a:p>
            <a:pPr algn="l">
              <a:defRPr sz="1125" b="1">
                <a:solidFill>
                  <a:srgbClr val="19A79B"/>
                </a:solidFill>
                <a:latin typeface="Segoe UI"/>
                <a:ea typeface="Segoe UI"/>
                <a:cs typeface="Segoe UI"/>
              </a:defRPr>
            </a:pPr>
            <a:r>
              <a:rPr sz="1125" b="1">
                <a:solidFill>
                  <a:srgbClr val="19A79B"/>
                </a:solidFill>
                <a:latin typeface="Segoe UI"/>
                <a:ea typeface="Segoe UI"/>
                <a:cs typeface="Segoe UI"/>
              </a:rPr>
              <a:t>Stakeholder</a:t>
            </a:r>
          </a:p>
        </p:txBody>
      </p:sp>
      <p:sp>
        <p:nvSpPr>
          <p:cNvPr id="6" name="Rectangle 5">
            <a:extLst>
              <a:ext uri="{FF2B5EF4-FFF2-40B4-BE49-F238E27FC236}">
                <a16:creationId xmlns:a16="http://schemas.microsoft.com/office/drawing/2014/main" id="{E8962886-BF2E-48AC-BF6A-723363F3D201}"/>
              </a:ext>
            </a:extLst>
          </p:cNvPr>
          <p:cNvSpPr>
            <a:spLocks noGrp="1"/>
          </p:cNvSpPr>
          <p:nvPr/>
        </p:nvSpPr>
        <p:spPr>
          <a:xfrm>
            <a:off x="685800" y="1714500"/>
            <a:ext cx="4476750" cy="495300"/>
          </a:xfrm>
          <a:prstGeom prst="rect">
            <a:avLst/>
          </a:prstGeom>
          <a:noFill/>
          <a:ln w="0">
            <a:noFill/>
            <a:prstDash val="solid"/>
          </a:ln>
        </p:spPr>
        <p:txBody>
          <a:bodyPr lIns="0" tIns="0" rIns="0" bIns="0" anchor="t">
            <a:normAutofit/>
          </a:bodyPr>
          <a:lstStyle>
            <a:defPPr algn="l">
              <a:defRPr sz="2325" b="1">
                <a:solidFill>
                  <a:srgbClr val="114873"/>
                </a:solidFill>
                <a:latin typeface="Segoe UI"/>
                <a:ea typeface="Segoe UI"/>
                <a:cs typeface="Segoe UI"/>
              </a:defRPr>
            </a:defPPr>
          </a:lstStyle>
          <a:p>
            <a:pPr algn="l">
              <a:defRPr sz="2325" b="1">
                <a:solidFill>
                  <a:srgbClr val="114873"/>
                </a:solidFill>
                <a:latin typeface="Segoe UI"/>
                <a:ea typeface="Segoe UI"/>
                <a:cs typeface="Segoe UI"/>
              </a:defRPr>
            </a:pPr>
            <a:r>
              <a:rPr sz="2325" b="1">
                <a:solidFill>
                  <a:srgbClr val="114873"/>
                </a:solidFill>
                <a:latin typeface="Segoe UI"/>
                <a:ea typeface="Segoe UI"/>
                <a:cs typeface="Segoe UI"/>
              </a:rPr>
              <a:t>Healthcare analytics team</a:t>
            </a:r>
          </a:p>
        </p:txBody>
      </p:sp>
      <p:sp>
        <p:nvSpPr>
          <p:cNvPr id="7" name="Rectangle 6">
            <a:extLst>
              <a:ext uri="{FF2B5EF4-FFF2-40B4-BE49-F238E27FC236}">
                <a16:creationId xmlns:a16="http://schemas.microsoft.com/office/drawing/2014/main" id="{F5DA25D1-4794-461A-BDEB-4BD33CA9621A}"/>
              </a:ext>
            </a:extLst>
          </p:cNvPr>
          <p:cNvSpPr>
            <a:spLocks noGrp="1"/>
          </p:cNvSpPr>
          <p:nvPr/>
        </p:nvSpPr>
        <p:spPr>
          <a:xfrm>
            <a:off x="685800" y="2381250"/>
            <a:ext cx="4572000" cy="1238250"/>
          </a:xfrm>
          <a:prstGeom prst="rect">
            <a:avLst/>
          </a:prstGeom>
          <a:noFill/>
          <a:ln w="0">
            <a:noFill/>
            <a:prstDash val="solid"/>
          </a:ln>
        </p:spPr>
        <p:txBody>
          <a:bodyPr lIns="0" tIns="0" rIns="0" bIns="0" anchor="t">
            <a:normAutofit/>
          </a:bodyPr>
          <a:lstStyle>
            <a:defPPr algn="l">
              <a:defRPr sz="1575" b="0">
                <a:solidFill>
                  <a:srgbClr val="405A70"/>
                </a:solidFill>
                <a:latin typeface="Segoe UI"/>
                <a:ea typeface="Segoe UI"/>
                <a:cs typeface="Segoe UI"/>
              </a:defRPr>
            </a:defPPr>
          </a:lstStyle>
          <a:p>
            <a:pPr algn="l">
              <a:defRPr sz="1575" b="0">
                <a:solidFill>
                  <a:srgbClr val="405A70"/>
                </a:solidFill>
                <a:latin typeface="Segoe UI"/>
                <a:ea typeface="Segoe UI"/>
                <a:cs typeface="Segoe UI"/>
              </a:defRPr>
            </a:pPr>
            <a:r>
              <a:rPr sz="1575" b="0" dirty="0">
                <a:solidFill>
                  <a:srgbClr val="405A70"/>
                </a:solidFill>
                <a:latin typeface="Segoe UI"/>
                <a:ea typeface="Segoe UI"/>
                <a:cs typeface="Segoe UI"/>
              </a:rPr>
              <a:t>The team needs a consistent view of utilization, claim cost, patient populations, and where resources are concentrated.</a:t>
            </a:r>
          </a:p>
        </p:txBody>
      </p:sp>
      <p:sp>
        <p:nvSpPr>
          <p:cNvPr id="8" name="Rectangle 7">
            <a:extLst>
              <a:ext uri="{FF2B5EF4-FFF2-40B4-BE49-F238E27FC236}">
                <a16:creationId xmlns:a16="http://schemas.microsoft.com/office/drawing/2014/main" id="{5C7A3984-7FBE-4DC9-8718-4B985D8A2061}"/>
              </a:ext>
            </a:extLst>
          </p:cNvPr>
          <p:cNvSpPr>
            <a:spLocks noGrp="1"/>
          </p:cNvSpPr>
          <p:nvPr/>
        </p:nvSpPr>
        <p:spPr>
          <a:xfrm>
            <a:off x="5572125" y="1381125"/>
            <a:ext cx="28575" cy="4095750"/>
          </a:xfrm>
          <a:prstGeom prst="rect">
            <a:avLst/>
          </a:prstGeom>
          <a:solidFill>
            <a:srgbClr val="D9E4EC"/>
          </a:solidFill>
          <a:ln w="0">
            <a:noFill/>
            <a:prstDash val="solid"/>
          </a:ln>
        </p:spPr>
        <p:txBody>
          <a:bodyPr/>
          <a:lstStyle/>
          <a:p>
            <a:endParaRPr lang="en-US"/>
          </a:p>
        </p:txBody>
      </p:sp>
      <p:sp>
        <p:nvSpPr>
          <p:cNvPr id="9" name="Rectangle 8">
            <a:extLst>
              <a:ext uri="{FF2B5EF4-FFF2-40B4-BE49-F238E27FC236}">
                <a16:creationId xmlns:a16="http://schemas.microsoft.com/office/drawing/2014/main" id="{D644F632-CEA4-4202-8BFF-52E3B2269461}"/>
              </a:ext>
            </a:extLst>
          </p:cNvPr>
          <p:cNvSpPr>
            <a:spLocks noGrp="1"/>
          </p:cNvSpPr>
          <p:nvPr/>
        </p:nvSpPr>
        <p:spPr>
          <a:xfrm>
            <a:off x="6000750" y="1381125"/>
            <a:ext cx="3810000" cy="323850"/>
          </a:xfrm>
          <a:prstGeom prst="rect">
            <a:avLst/>
          </a:prstGeom>
          <a:noFill/>
          <a:ln w="0">
            <a:noFill/>
            <a:prstDash val="solid"/>
          </a:ln>
        </p:spPr>
        <p:txBody>
          <a:bodyPr lIns="0" tIns="0" rIns="0" bIns="0" anchor="t">
            <a:normAutofit/>
          </a:bodyPr>
          <a:lstStyle>
            <a:defPPr algn="l">
              <a:defRPr sz="1800" b="1">
                <a:solidFill>
                  <a:srgbClr val="114873"/>
                </a:solidFill>
                <a:latin typeface="Segoe UI"/>
                <a:ea typeface="Segoe UI"/>
                <a:cs typeface="Segoe UI"/>
              </a:defRPr>
            </a:defPPr>
          </a:lstStyle>
          <a:p>
            <a:pPr algn="l">
              <a:defRPr sz="1800" b="1">
                <a:solidFill>
                  <a:srgbClr val="114873"/>
                </a:solidFill>
                <a:latin typeface="Segoe UI"/>
                <a:ea typeface="Segoe UI"/>
                <a:cs typeface="Segoe UI"/>
              </a:defRPr>
            </a:pPr>
            <a:r>
              <a:rPr sz="1800" b="1">
                <a:solidFill>
                  <a:srgbClr val="114873"/>
                </a:solidFill>
                <a:latin typeface="Segoe UI"/>
                <a:ea typeface="Segoe UI"/>
                <a:cs typeface="Segoe UI"/>
              </a:rPr>
              <a:t>Questions addressed</a:t>
            </a:r>
          </a:p>
        </p:txBody>
      </p:sp>
      <p:sp>
        <p:nvSpPr>
          <p:cNvPr id="10" name="Rectangle 9">
            <a:extLst>
              <a:ext uri="{FF2B5EF4-FFF2-40B4-BE49-F238E27FC236}">
                <a16:creationId xmlns:a16="http://schemas.microsoft.com/office/drawing/2014/main" id="{E95112D9-7D83-4C89-886C-ACA4A083EAB2}"/>
              </a:ext>
            </a:extLst>
          </p:cNvPr>
          <p:cNvSpPr>
            <a:spLocks noGrp="1"/>
          </p:cNvSpPr>
          <p:nvPr/>
        </p:nvSpPr>
        <p:spPr>
          <a:xfrm>
            <a:off x="6000750" y="1905000"/>
            <a:ext cx="5191125" cy="3238500"/>
          </a:xfrm>
          <a:prstGeom prst="rect">
            <a:avLst/>
          </a:prstGeom>
          <a:noFill/>
          <a:ln w="0">
            <a:noFill/>
            <a:prstDash val="solid"/>
          </a:ln>
        </p:spPr>
        <p:txBody>
          <a:bodyPr lIns="0" tIns="0" rIns="0" bIns="0">
            <a:normAutofit/>
          </a:bodyPr>
          <a:lstStyle>
            <a:defPPr>
              <a:defRPr sz="1425">
                <a:solidFill>
                  <a:srgbClr val="405A70"/>
                </a:solidFill>
                <a:latin typeface="Segoe UI"/>
                <a:ea typeface="Segoe UI"/>
                <a:cs typeface="Segoe UI"/>
              </a:defRPr>
            </a:defPPr>
          </a:lstStyle>
          <a:p>
            <a:pPr marL="254000" indent="-127000">
              <a:spcAft>
                <a:spcPts val="1300"/>
              </a:spcAft>
              <a:buChar char="•"/>
              <a:defRPr sz="1425">
                <a:solidFill>
                  <a:srgbClr val="405A70"/>
                </a:solidFill>
                <a:latin typeface="Segoe UI"/>
                <a:ea typeface="Segoe UI"/>
                <a:cs typeface="Segoe UI"/>
              </a:defRPr>
            </a:pPr>
            <a:r>
              <a:rPr sz="1425" dirty="0">
                <a:solidFill>
                  <a:srgbClr val="405A70"/>
                </a:solidFill>
                <a:latin typeface="Segoe UI"/>
                <a:ea typeface="Segoe UI"/>
                <a:cs typeface="Segoe UI"/>
              </a:rPr>
              <a:t>Which encounter classes account for the most claim cost?</a:t>
            </a:r>
          </a:p>
          <a:p>
            <a:pPr marL="254000" indent="-127000">
              <a:spcAft>
                <a:spcPts val="1300"/>
              </a:spcAft>
              <a:buChar char="•"/>
              <a:defRPr sz="1425">
                <a:solidFill>
                  <a:srgbClr val="405A70"/>
                </a:solidFill>
                <a:latin typeface="Segoe UI"/>
                <a:ea typeface="Segoe UI"/>
                <a:cs typeface="Segoe UI"/>
              </a:defRPr>
            </a:pPr>
            <a:r>
              <a:rPr sz="1425" dirty="0">
                <a:solidFill>
                  <a:srgbClr val="405A70"/>
                </a:solidFill>
                <a:latin typeface="Segoe UI"/>
                <a:ea typeface="Segoe UI"/>
                <a:cs typeface="Segoe UI"/>
              </a:rPr>
              <a:t>How has utilization changed over time?</a:t>
            </a:r>
          </a:p>
          <a:p>
            <a:pPr marL="254000" indent="-127000">
              <a:spcAft>
                <a:spcPts val="1300"/>
              </a:spcAft>
              <a:buChar char="•"/>
              <a:defRPr sz="1425">
                <a:solidFill>
                  <a:srgbClr val="405A70"/>
                </a:solidFill>
                <a:latin typeface="Segoe UI"/>
                <a:ea typeface="Segoe UI"/>
                <a:cs typeface="Segoe UI"/>
              </a:defRPr>
            </a:pPr>
            <a:r>
              <a:rPr sz="1425" dirty="0">
                <a:solidFill>
                  <a:srgbClr val="405A70"/>
                </a:solidFill>
                <a:latin typeface="Segoe UI"/>
                <a:ea typeface="Segoe UI"/>
                <a:cs typeface="Segoe UI"/>
              </a:rPr>
              <a:t>Which recorded clinical conditions appear most frequently?</a:t>
            </a:r>
          </a:p>
          <a:p>
            <a:pPr marL="254000" indent="-127000">
              <a:spcAft>
                <a:spcPts val="1300"/>
              </a:spcAft>
              <a:buChar char="•"/>
              <a:defRPr sz="1425">
                <a:solidFill>
                  <a:srgbClr val="405A70"/>
                </a:solidFill>
                <a:latin typeface="Segoe UI"/>
                <a:ea typeface="Segoe UI"/>
                <a:cs typeface="Segoe UI"/>
              </a:defRPr>
            </a:pPr>
            <a:r>
              <a:rPr sz="1425" dirty="0">
                <a:solidFill>
                  <a:srgbClr val="405A70"/>
                </a:solidFill>
                <a:latin typeface="Segoe UI"/>
                <a:ea typeface="Segoe UI"/>
                <a:cs typeface="Segoe UI"/>
              </a:rPr>
              <a:t>Which organizations handle the most encounters?</a:t>
            </a:r>
          </a:p>
          <a:p>
            <a:pPr marL="254000" indent="-127000">
              <a:spcAft>
                <a:spcPts val="1300"/>
              </a:spcAft>
              <a:buChar char="•"/>
              <a:defRPr sz="1425">
                <a:solidFill>
                  <a:srgbClr val="405A70"/>
                </a:solidFill>
                <a:latin typeface="Segoe UI"/>
                <a:ea typeface="Segoe UI"/>
                <a:cs typeface="Segoe UI"/>
              </a:defRPr>
            </a:pPr>
            <a:r>
              <a:rPr sz="1425" dirty="0">
                <a:solidFill>
                  <a:srgbClr val="405A70"/>
                </a:solidFill>
                <a:latin typeface="Segoe UI"/>
                <a:ea typeface="Segoe UI"/>
                <a:cs typeface="Segoe UI"/>
              </a:rPr>
              <a:t>How do the results change across patient and payer groups?</a:t>
            </a:r>
          </a:p>
        </p:txBody>
      </p:sp>
      <p:sp>
        <p:nvSpPr>
          <p:cNvPr id="11" name="Rectangle 10">
            <a:extLst>
              <a:ext uri="{FF2B5EF4-FFF2-40B4-BE49-F238E27FC236}">
                <a16:creationId xmlns:a16="http://schemas.microsoft.com/office/drawing/2014/main" id="{F60937D7-6ECD-4E82-A0EF-480BD1A2DA9B}"/>
              </a:ext>
            </a:extLst>
          </p:cNvPr>
          <p:cNvSpPr>
            <a:spLocks noGrp="1"/>
          </p:cNvSpPr>
          <p:nvPr/>
        </p:nvSpPr>
        <p:spPr>
          <a:xfrm>
            <a:off x="685800" y="5095875"/>
            <a:ext cx="2000250" cy="304800"/>
          </a:xfrm>
          <a:prstGeom prst="rect">
            <a:avLst/>
          </a:prstGeom>
          <a:noFill/>
          <a:ln w="0">
            <a:noFill/>
            <a:prstDash val="solid"/>
          </a:ln>
        </p:spPr>
        <p:txBody>
          <a:bodyPr lIns="0" tIns="0" rIns="0" bIns="0" anchor="t">
            <a:normAutofit/>
          </a:bodyPr>
          <a:lstStyle>
            <a:defPPr algn="l">
              <a:defRPr sz="1650" b="1">
                <a:solidFill>
                  <a:srgbClr val="168AF4"/>
                </a:solidFill>
                <a:latin typeface="Segoe UI"/>
                <a:ea typeface="Segoe UI"/>
                <a:cs typeface="Segoe UI"/>
              </a:defRPr>
            </a:defPPr>
          </a:lstStyle>
          <a:p>
            <a:pPr algn="l">
              <a:defRPr sz="1650" b="1">
                <a:solidFill>
                  <a:srgbClr val="168AF4"/>
                </a:solidFill>
                <a:latin typeface="Segoe UI"/>
                <a:ea typeface="Segoe UI"/>
                <a:cs typeface="Segoe UI"/>
              </a:defRPr>
            </a:pPr>
            <a:r>
              <a:rPr sz="1650" b="1">
                <a:solidFill>
                  <a:srgbClr val="168AF4"/>
                </a:solidFill>
                <a:latin typeface="Segoe UI"/>
                <a:ea typeface="Segoe UI"/>
                <a:cs typeface="Segoe UI"/>
              </a:rPr>
              <a:t>18 source CSVs</a:t>
            </a:r>
          </a:p>
        </p:txBody>
      </p:sp>
      <p:sp>
        <p:nvSpPr>
          <p:cNvPr id="12" name="Rectangle 11">
            <a:extLst>
              <a:ext uri="{FF2B5EF4-FFF2-40B4-BE49-F238E27FC236}">
                <a16:creationId xmlns:a16="http://schemas.microsoft.com/office/drawing/2014/main" id="{4DD78DE9-25E3-4318-9096-D889745CF2CD}"/>
              </a:ext>
            </a:extLst>
          </p:cNvPr>
          <p:cNvSpPr>
            <a:spLocks noGrp="1"/>
          </p:cNvSpPr>
          <p:nvPr/>
        </p:nvSpPr>
        <p:spPr>
          <a:xfrm>
            <a:off x="2857500" y="5095875"/>
            <a:ext cx="2000250" cy="304800"/>
          </a:xfrm>
          <a:prstGeom prst="rect">
            <a:avLst/>
          </a:prstGeom>
          <a:noFill/>
          <a:ln w="0">
            <a:noFill/>
            <a:prstDash val="solid"/>
          </a:ln>
        </p:spPr>
        <p:txBody>
          <a:bodyPr lIns="0" tIns="0" rIns="0" bIns="0" anchor="t">
            <a:normAutofit/>
          </a:bodyPr>
          <a:lstStyle>
            <a:defPPr algn="l">
              <a:defRPr sz="1650" b="1">
                <a:solidFill>
                  <a:srgbClr val="19A79B"/>
                </a:solidFill>
                <a:latin typeface="Segoe UI"/>
                <a:ea typeface="Segoe UI"/>
                <a:cs typeface="Segoe UI"/>
              </a:defRPr>
            </a:defPPr>
          </a:lstStyle>
          <a:p>
            <a:pPr algn="l">
              <a:defRPr sz="1650" b="1">
                <a:solidFill>
                  <a:srgbClr val="19A79B"/>
                </a:solidFill>
                <a:latin typeface="Segoe UI"/>
                <a:ea typeface="Segoe UI"/>
                <a:cs typeface="Segoe UI"/>
              </a:defRPr>
            </a:pPr>
            <a:r>
              <a:rPr sz="1650" b="1">
                <a:solidFill>
                  <a:srgbClr val="19A79B"/>
                </a:solidFill>
                <a:latin typeface="Segoe UI"/>
                <a:ea typeface="Segoe UI"/>
                <a:cs typeface="Segoe UI"/>
              </a:rPr>
              <a:t>6 core datasets</a:t>
            </a:r>
          </a:p>
        </p:txBody>
      </p:sp>
      <p:sp>
        <p:nvSpPr>
          <p:cNvPr id="13" name="Rectangle 12">
            <a:extLst>
              <a:ext uri="{FF2B5EF4-FFF2-40B4-BE49-F238E27FC236}">
                <a16:creationId xmlns:a16="http://schemas.microsoft.com/office/drawing/2014/main" id="{F7D16C53-D35B-42A7-BE74-0BE01045C5EF}"/>
              </a:ext>
            </a:extLst>
          </p:cNvPr>
          <p:cNvSpPr>
            <a:spLocks noGrp="1"/>
          </p:cNvSpPr>
          <p:nvPr/>
        </p:nvSpPr>
        <p:spPr>
          <a:xfrm>
            <a:off x="6000750" y="5095875"/>
            <a:ext cx="3238500" cy="304800"/>
          </a:xfrm>
          <a:prstGeom prst="rect">
            <a:avLst/>
          </a:prstGeom>
          <a:noFill/>
          <a:ln w="0">
            <a:noFill/>
            <a:prstDash val="solid"/>
          </a:ln>
        </p:spPr>
        <p:txBody>
          <a:bodyPr lIns="0" tIns="0" rIns="0" bIns="0" anchor="t">
            <a:normAutofit/>
          </a:bodyPr>
          <a:lstStyle>
            <a:defPPr algn="l">
              <a:defRPr sz="1650" b="1">
                <a:solidFill>
                  <a:srgbClr val="F4A23C"/>
                </a:solidFill>
                <a:latin typeface="Segoe UI"/>
                <a:ea typeface="Segoe UI"/>
                <a:cs typeface="Segoe UI"/>
              </a:defRPr>
            </a:defPPr>
          </a:lstStyle>
          <a:p>
            <a:pPr algn="l">
              <a:defRPr sz="1650" b="1">
                <a:solidFill>
                  <a:srgbClr val="F4A23C"/>
                </a:solidFill>
                <a:latin typeface="Segoe UI"/>
                <a:ea typeface="Segoe UI"/>
                <a:cs typeface="Segoe UI"/>
              </a:defRPr>
            </a:pPr>
            <a:r>
              <a:rPr sz="1650" b="1">
                <a:solidFill>
                  <a:srgbClr val="F4A23C"/>
                </a:solidFill>
                <a:latin typeface="Segoe UI"/>
                <a:ea typeface="Segoe UI"/>
                <a:cs typeface="Segoe UI"/>
              </a:rPr>
              <a:t>5 dimensions and 2 facts</a:t>
            </a:r>
          </a:p>
        </p:txBody>
      </p:sp>
      <p:sp>
        <p:nvSpPr>
          <p:cNvPr id="14" name="Rectangle 13">
            <a:extLst>
              <a:ext uri="{FF2B5EF4-FFF2-40B4-BE49-F238E27FC236}">
                <a16:creationId xmlns:a16="http://schemas.microsoft.com/office/drawing/2014/main" id="{00BA47DE-E2B8-4B99-AA4C-74575FC3C787}"/>
              </a:ext>
            </a:extLst>
          </p:cNvPr>
          <p:cNvSpPr>
            <a:spLocks noGrp="1"/>
          </p:cNvSpPr>
          <p:nvPr/>
        </p:nvSpPr>
        <p:spPr>
          <a:xfrm>
            <a:off x="609600" y="6543675"/>
            <a:ext cx="10972800" cy="9525"/>
          </a:xfrm>
          <a:prstGeom prst="rect">
            <a:avLst/>
          </a:prstGeom>
          <a:solidFill>
            <a:srgbClr val="D9E4EC"/>
          </a:solidFill>
          <a:ln w="0">
            <a:noFill/>
            <a:prstDash val="solid"/>
          </a:ln>
        </p:spPr>
        <p:txBody>
          <a:bodyPr/>
          <a:lstStyle/>
          <a:p>
            <a:endParaRPr lang="en-US"/>
          </a:p>
        </p:txBody>
      </p:sp>
      <p:sp>
        <p:nvSpPr>
          <p:cNvPr id="15" name="Rectangle 14">
            <a:extLst>
              <a:ext uri="{FF2B5EF4-FFF2-40B4-BE49-F238E27FC236}">
                <a16:creationId xmlns:a16="http://schemas.microsoft.com/office/drawing/2014/main" id="{7B9CA0D3-5070-44D5-8207-0C6C274156AF}"/>
              </a:ext>
            </a:extLst>
          </p:cNvPr>
          <p:cNvSpPr>
            <a:spLocks noGrp="1"/>
          </p:cNvSpPr>
          <p:nvPr/>
        </p:nvSpPr>
        <p:spPr>
          <a:xfrm>
            <a:off x="609600" y="6600825"/>
            <a:ext cx="6953250" cy="171450"/>
          </a:xfrm>
          <a:prstGeom prst="rect">
            <a:avLst/>
          </a:prstGeom>
          <a:noFill/>
          <a:ln w="0">
            <a:noFill/>
            <a:prstDash val="solid"/>
          </a:ln>
        </p:spPr>
        <p:txBody>
          <a:bodyPr lIns="0" tIns="0" rIns="0" bIns="0" anchor="t">
            <a:normAutofit/>
          </a:bodyPr>
          <a:lstStyle>
            <a:defPPr algn="l">
              <a:defRPr sz="750" b="0">
                <a:solidFill>
                  <a:srgbClr val="6F8598"/>
                </a:solidFill>
                <a:latin typeface="Segoe UI"/>
                <a:ea typeface="Segoe UI"/>
                <a:cs typeface="Segoe UI"/>
              </a:defRPr>
            </a:defPPr>
          </a:lstStyle>
          <a:p>
            <a:pPr algn="l">
              <a:defRPr sz="750" b="0">
                <a:solidFill>
                  <a:srgbClr val="6F8598"/>
                </a:solidFill>
                <a:latin typeface="Segoe UI"/>
                <a:ea typeface="Segoe UI"/>
                <a:cs typeface="Segoe UI"/>
              </a:defRPr>
            </a:pPr>
            <a:r>
              <a:rPr sz="750" b="0">
                <a:solidFill>
                  <a:srgbClr val="6F8598"/>
                </a:solidFill>
                <a:latin typeface="Segoe UI"/>
                <a:ea typeface="Segoe UI"/>
                <a:cs typeface="Segoe UI"/>
              </a:rPr>
              <a:t>Synthetic healthcare data generated by Synthea</a:t>
            </a:r>
          </a:p>
        </p:txBody>
      </p:sp>
    </p:spTree>
    <p:extLst>
      <p:ext uri="{BB962C8B-B14F-4D97-AF65-F5344CB8AC3E}">
        <p14:creationId xmlns:p14="http://schemas.microsoft.com/office/powerpoint/2010/main" val="1202360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3F7FA"/>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C5E08C73-39A5-478C-0622-92339824F14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150232072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8" name="Rectangle 17">
            <a:extLst>
              <a:ext uri="{FF2B5EF4-FFF2-40B4-BE49-F238E27FC236}">
                <a16:creationId xmlns:a16="http://schemas.microsoft.com/office/drawing/2014/main" id="{16A393AB-283C-478A-B20C-D49A1D669BEB}"/>
              </a:ext>
            </a:extLst>
          </p:cNvPr>
          <p:cNvSpPr>
            <a:spLocks noGrp="1"/>
          </p:cNvSpPr>
          <p:nvPr/>
        </p:nvSpPr>
        <p:spPr>
          <a:xfrm>
            <a:off x="0" y="0"/>
            <a:ext cx="12192000" cy="76200"/>
          </a:xfrm>
          <a:prstGeom prst="rect">
            <a:avLst/>
          </a:prstGeom>
          <a:solidFill>
            <a:srgbClr val="114873"/>
          </a:solidFill>
          <a:ln w="0">
            <a:noFill/>
            <a:prstDash val="solid"/>
          </a:ln>
        </p:spPr>
        <p:txBody>
          <a:bodyPr/>
          <a:lstStyle/>
          <a:p>
            <a:endParaRPr lang="en-US"/>
          </a:p>
        </p:txBody>
      </p:sp>
      <p:sp>
        <p:nvSpPr>
          <p:cNvPr id="2" name="Rectangle 1">
            <a:extLst>
              <a:ext uri="{FF2B5EF4-FFF2-40B4-BE49-F238E27FC236}">
                <a16:creationId xmlns:a16="http://schemas.microsoft.com/office/drawing/2014/main" id="{64057EA3-BD4A-4681-BF95-65B66C9D49DF}"/>
              </a:ext>
            </a:extLst>
          </p:cNvPr>
          <p:cNvSpPr>
            <a:spLocks noGrp="1"/>
          </p:cNvSpPr>
          <p:nvPr/>
        </p:nvSpPr>
        <p:spPr>
          <a:xfrm>
            <a:off x="609600" y="285750"/>
            <a:ext cx="9906000" cy="495300"/>
          </a:xfrm>
          <a:prstGeom prst="rect">
            <a:avLst/>
          </a:prstGeom>
          <a:noFill/>
          <a:ln w="0">
            <a:noFill/>
            <a:prstDash val="solid"/>
          </a:ln>
        </p:spPr>
        <p:txBody>
          <a:bodyPr lIns="0" tIns="0" rIns="0" bIns="0" anchor="ctr">
            <a:normAutofit/>
          </a:bodyPr>
          <a:lstStyle>
            <a:defPPr algn="l">
              <a:defRPr sz="2550" b="1">
                <a:solidFill>
                  <a:srgbClr val="114873"/>
                </a:solidFill>
                <a:latin typeface="Segoe UI"/>
                <a:ea typeface="Segoe UI"/>
                <a:cs typeface="Segoe UI"/>
              </a:defRPr>
            </a:defPPr>
          </a:lstStyle>
          <a:p>
            <a:pPr algn="l">
              <a:defRPr sz="2550" b="1">
                <a:solidFill>
                  <a:srgbClr val="114873"/>
                </a:solidFill>
                <a:latin typeface="Segoe UI"/>
                <a:ea typeface="Segoe UI"/>
                <a:cs typeface="Segoe UI"/>
              </a:defRPr>
            </a:pPr>
            <a:r>
              <a:rPr sz="2550" b="1">
                <a:solidFill>
                  <a:srgbClr val="114873"/>
                </a:solidFill>
                <a:latin typeface="Segoe UI"/>
                <a:ea typeface="Segoe UI"/>
                <a:cs typeface="Segoe UI"/>
              </a:rPr>
              <a:t>Dimensional analytics model</a:t>
            </a:r>
          </a:p>
        </p:txBody>
      </p:sp>
      <p:sp>
        <p:nvSpPr>
          <p:cNvPr id="3" name="Rectangle 2">
            <a:extLst>
              <a:ext uri="{FF2B5EF4-FFF2-40B4-BE49-F238E27FC236}">
                <a16:creationId xmlns:a16="http://schemas.microsoft.com/office/drawing/2014/main" id="{03114FC3-72A7-4AFE-B2A3-70CC4B570F13}"/>
              </a:ext>
            </a:extLst>
          </p:cNvPr>
          <p:cNvSpPr>
            <a:spLocks noGrp="1"/>
          </p:cNvSpPr>
          <p:nvPr/>
        </p:nvSpPr>
        <p:spPr>
          <a:xfrm>
            <a:off x="628650" y="781050"/>
            <a:ext cx="10287000" cy="304800"/>
          </a:xfrm>
          <a:prstGeom prst="rect">
            <a:avLst/>
          </a:prstGeom>
          <a:noFill/>
          <a:ln w="0">
            <a:noFill/>
            <a:prstDash val="solid"/>
          </a:ln>
        </p:spPr>
        <p:txBody>
          <a:bodyPr lIns="0" tIns="0" rIns="0" bIns="0" anchor="ctr">
            <a:normAutofit/>
          </a:bodyPr>
          <a:lstStyle>
            <a:defPPr algn="l">
              <a:defRPr sz="1200" b="0">
                <a:solidFill>
                  <a:srgbClr val="6F8598"/>
                </a:solidFill>
                <a:latin typeface="Segoe UI"/>
                <a:ea typeface="Segoe UI"/>
                <a:cs typeface="Segoe UI"/>
              </a:defRPr>
            </a:defPPr>
          </a:lstStyle>
          <a:p>
            <a:pPr algn="l">
              <a:defRPr sz="1200" b="0">
                <a:solidFill>
                  <a:srgbClr val="6F8598"/>
                </a:solidFill>
                <a:latin typeface="Segoe UI"/>
                <a:ea typeface="Segoe UI"/>
                <a:cs typeface="Segoe UI"/>
              </a:defRPr>
            </a:pPr>
            <a:r>
              <a:rPr sz="1200" b="0">
                <a:solidFill>
                  <a:srgbClr val="6F8598"/>
                </a:solidFill>
                <a:latin typeface="Segoe UI"/>
                <a:ea typeface="Segoe UI"/>
                <a:cs typeface="Segoe UI"/>
              </a:rPr>
              <a:t>Separate dimensions describe patients, payers, providers, organizations, and conditions</a:t>
            </a:r>
          </a:p>
        </p:txBody>
      </p:sp>
      <p:sp>
        <p:nvSpPr>
          <p:cNvPr id="4" name="Rectangle 3">
            <a:extLst>
              <a:ext uri="{FF2B5EF4-FFF2-40B4-BE49-F238E27FC236}">
                <a16:creationId xmlns:a16="http://schemas.microsoft.com/office/drawing/2014/main" id="{3B249874-8320-4761-A7E1-81CA9C2B1BC4}"/>
              </a:ext>
            </a:extLst>
          </p:cNvPr>
          <p:cNvSpPr>
            <a:spLocks noGrp="1"/>
          </p:cNvSpPr>
          <p:nvPr/>
        </p:nvSpPr>
        <p:spPr>
          <a:xfrm>
            <a:off x="11144250" y="361950"/>
            <a:ext cx="457200" cy="285750"/>
          </a:xfrm>
          <a:prstGeom prst="rect">
            <a:avLst/>
          </a:prstGeom>
          <a:noFill/>
          <a:ln w="0">
            <a:noFill/>
            <a:prstDash val="solid"/>
          </a:ln>
        </p:spPr>
        <p:txBody>
          <a:bodyPr lIns="0" tIns="0" rIns="0" bIns="0" anchor="t">
            <a:normAutofit/>
          </a:bodyPr>
          <a:lstStyle>
            <a:defPPr algn="r">
              <a:defRPr sz="1050" b="1">
                <a:solidFill>
                  <a:srgbClr val="6F8598"/>
                </a:solidFill>
                <a:latin typeface="Segoe UI"/>
                <a:ea typeface="Segoe UI"/>
                <a:cs typeface="Segoe UI"/>
              </a:defRPr>
            </a:defPPr>
          </a:lstStyle>
          <a:p>
            <a:pPr algn="r">
              <a:defRPr sz="1050" b="1">
                <a:solidFill>
                  <a:srgbClr val="6F8598"/>
                </a:solidFill>
                <a:latin typeface="Segoe UI"/>
                <a:ea typeface="Segoe UI"/>
                <a:cs typeface="Segoe UI"/>
              </a:defRPr>
            </a:pPr>
            <a:r>
              <a:rPr sz="1050" b="1">
                <a:solidFill>
                  <a:srgbClr val="6F8598"/>
                </a:solidFill>
                <a:latin typeface="Segoe UI"/>
                <a:ea typeface="Segoe UI"/>
                <a:cs typeface="Segoe UI"/>
              </a:rPr>
              <a:t>04</a:t>
            </a:r>
          </a:p>
        </p:txBody>
      </p:sp>
      <p:sp>
        <p:nvSpPr>
          <p:cNvPr id="5" name="Rectangle: Rounded Corners 4">
            <a:extLst>
              <a:ext uri="{FF2B5EF4-FFF2-40B4-BE49-F238E27FC236}">
                <a16:creationId xmlns:a16="http://schemas.microsoft.com/office/drawing/2014/main" id="{2243C718-E86A-486E-8FF6-1E987108312C}"/>
              </a:ext>
            </a:extLst>
          </p:cNvPr>
          <p:cNvSpPr>
            <a:spLocks noGrp="1"/>
          </p:cNvSpPr>
          <p:nvPr/>
        </p:nvSpPr>
        <p:spPr>
          <a:xfrm>
            <a:off x="533400" y="1190625"/>
            <a:ext cx="7524750" cy="5095875"/>
          </a:xfrm>
          <a:prstGeom prst="roundRect">
            <a:avLst>
              <a:gd name="adj" fmla="val 1495"/>
            </a:avLst>
          </a:prstGeom>
          <a:solidFill>
            <a:srgbClr val="F3F7FA"/>
          </a:solidFill>
          <a:ln w="9525">
            <a:solidFill>
              <a:srgbClr val="D9E4EC"/>
            </a:solidFill>
            <a:prstDash val="solid"/>
          </a:ln>
        </p:spPr>
        <p:txBody>
          <a:bodyPr/>
          <a:lstStyle/>
          <a:p>
            <a:endParaRPr lang="en-US"/>
          </a:p>
        </p:txBody>
      </p:sp>
      <p:pic>
        <p:nvPicPr>
          <p:cNvPr id="6" name="Picture 5">
            <a:extLst>
              <a:ext uri="{FF2B5EF4-FFF2-40B4-BE49-F238E27FC236}">
                <a16:creationId xmlns:a16="http://schemas.microsoft.com/office/drawing/2014/main" id="{9FBBD7DF-AECC-44B4-BAFD-0FE32D59FFAC}"/>
              </a:ext>
            </a:extLst>
          </p:cNvPr>
          <p:cNvPicPr>
            <a:picLocks noChangeAspect="1"/>
          </p:cNvPicPr>
          <p:nvPr/>
        </p:nvPicPr>
        <p:blipFill>
          <a:blip r:embed="rId3"/>
          <a:stretch/>
        </p:blipFill>
        <p:spPr>
          <a:xfrm>
            <a:off x="1566049" y="1352550"/>
            <a:ext cx="5459451" cy="4762500"/>
          </a:xfrm>
          <a:prstGeom prst="rect">
            <a:avLst/>
          </a:prstGeom>
        </p:spPr>
      </p:pic>
      <p:sp>
        <p:nvSpPr>
          <p:cNvPr id="7" name="Rectangle 6">
            <a:extLst>
              <a:ext uri="{FF2B5EF4-FFF2-40B4-BE49-F238E27FC236}">
                <a16:creationId xmlns:a16="http://schemas.microsoft.com/office/drawing/2014/main" id="{38D578E0-5CE7-4AA6-A8C5-C793A294C4E0}"/>
              </a:ext>
            </a:extLst>
          </p:cNvPr>
          <p:cNvSpPr>
            <a:spLocks noGrp="1"/>
          </p:cNvSpPr>
          <p:nvPr/>
        </p:nvSpPr>
        <p:spPr>
          <a:xfrm>
            <a:off x="8572500" y="1381125"/>
            <a:ext cx="762000" cy="619125"/>
          </a:xfrm>
          <a:prstGeom prst="rect">
            <a:avLst/>
          </a:prstGeom>
          <a:noFill/>
          <a:ln w="0">
            <a:noFill/>
            <a:prstDash val="solid"/>
          </a:ln>
        </p:spPr>
        <p:txBody>
          <a:bodyPr lIns="0" tIns="0" rIns="0" bIns="0" anchor="t">
            <a:normAutofit/>
          </a:bodyPr>
          <a:lstStyle>
            <a:defPPr algn="l">
              <a:defRPr sz="3750" b="1">
                <a:solidFill>
                  <a:srgbClr val="168AF4"/>
                </a:solidFill>
                <a:latin typeface="Segoe UI"/>
                <a:ea typeface="Segoe UI"/>
                <a:cs typeface="Segoe UI"/>
              </a:defRPr>
            </a:defPPr>
          </a:lstStyle>
          <a:p>
            <a:pPr algn="l">
              <a:defRPr sz="3750" b="1">
                <a:solidFill>
                  <a:srgbClr val="168AF4"/>
                </a:solidFill>
                <a:latin typeface="Segoe UI"/>
                <a:ea typeface="Segoe UI"/>
                <a:cs typeface="Segoe UI"/>
              </a:defRPr>
            </a:pPr>
            <a:r>
              <a:rPr sz="3750" b="1">
                <a:solidFill>
                  <a:srgbClr val="168AF4"/>
                </a:solidFill>
                <a:latin typeface="Segoe UI"/>
                <a:ea typeface="Segoe UI"/>
                <a:cs typeface="Segoe UI"/>
              </a:rPr>
              <a:t>5</a:t>
            </a:r>
          </a:p>
        </p:txBody>
      </p:sp>
      <p:sp>
        <p:nvSpPr>
          <p:cNvPr id="8" name="Rectangle 7">
            <a:extLst>
              <a:ext uri="{FF2B5EF4-FFF2-40B4-BE49-F238E27FC236}">
                <a16:creationId xmlns:a16="http://schemas.microsoft.com/office/drawing/2014/main" id="{0674D48B-FC10-48A8-97BD-BEE22F18375A}"/>
              </a:ext>
            </a:extLst>
          </p:cNvPr>
          <p:cNvSpPr>
            <a:spLocks noGrp="1"/>
          </p:cNvSpPr>
          <p:nvPr/>
        </p:nvSpPr>
        <p:spPr>
          <a:xfrm>
            <a:off x="9334500" y="1571625"/>
            <a:ext cx="2095500" cy="333375"/>
          </a:xfrm>
          <a:prstGeom prst="rect">
            <a:avLst/>
          </a:prstGeom>
          <a:noFill/>
          <a:ln w="0">
            <a:noFill/>
            <a:prstDash val="solid"/>
          </a:ln>
        </p:spPr>
        <p:txBody>
          <a:bodyPr lIns="0" tIns="0" rIns="0" bIns="0" anchor="t">
            <a:normAutofit/>
          </a:bodyPr>
          <a:lstStyle>
            <a:defPPr algn="l">
              <a:defRPr sz="1725" b="1">
                <a:solidFill>
                  <a:srgbClr val="114873"/>
                </a:solidFill>
                <a:latin typeface="Segoe UI"/>
                <a:ea typeface="Segoe UI"/>
                <a:cs typeface="Segoe UI"/>
              </a:defRPr>
            </a:defPPr>
          </a:lstStyle>
          <a:p>
            <a:pPr algn="l">
              <a:defRPr sz="1725" b="1">
                <a:solidFill>
                  <a:srgbClr val="114873"/>
                </a:solidFill>
                <a:latin typeface="Segoe UI"/>
                <a:ea typeface="Segoe UI"/>
                <a:cs typeface="Segoe UI"/>
              </a:defRPr>
            </a:pPr>
            <a:r>
              <a:rPr sz="1725" b="1">
                <a:solidFill>
                  <a:srgbClr val="114873"/>
                </a:solidFill>
                <a:latin typeface="Segoe UI"/>
                <a:ea typeface="Segoe UI"/>
                <a:cs typeface="Segoe UI"/>
              </a:rPr>
              <a:t>dimensions</a:t>
            </a:r>
          </a:p>
        </p:txBody>
      </p:sp>
      <p:sp>
        <p:nvSpPr>
          <p:cNvPr id="9" name="Rectangle 8">
            <a:extLst>
              <a:ext uri="{FF2B5EF4-FFF2-40B4-BE49-F238E27FC236}">
                <a16:creationId xmlns:a16="http://schemas.microsoft.com/office/drawing/2014/main" id="{F802A3DD-E05A-4D36-88BB-6A79D1C8FD8D}"/>
              </a:ext>
            </a:extLst>
          </p:cNvPr>
          <p:cNvSpPr>
            <a:spLocks noGrp="1"/>
          </p:cNvSpPr>
          <p:nvPr/>
        </p:nvSpPr>
        <p:spPr>
          <a:xfrm>
            <a:off x="8572500" y="2095500"/>
            <a:ext cx="2857500" cy="742950"/>
          </a:xfrm>
          <a:prstGeom prst="rect">
            <a:avLst/>
          </a:prstGeom>
          <a:noFill/>
          <a:ln w="0">
            <a:noFill/>
            <a:prstDash val="solid"/>
          </a:ln>
        </p:spPr>
        <p:txBody>
          <a:bodyPr lIns="0" tIns="0" rIns="0" bIns="0" anchor="t">
            <a:normAutofit/>
          </a:bodyPr>
          <a:lstStyle>
            <a:defPPr algn="l">
              <a:defRPr sz="1275" b="0">
                <a:solidFill>
                  <a:srgbClr val="405A70"/>
                </a:solidFill>
                <a:latin typeface="Segoe UI"/>
                <a:ea typeface="Segoe UI"/>
                <a:cs typeface="Segoe UI"/>
              </a:defRPr>
            </a:defPPr>
          </a:lstStyle>
          <a:p>
            <a:pPr algn="l">
              <a:defRPr sz="1275" b="0">
                <a:solidFill>
                  <a:srgbClr val="405A70"/>
                </a:solidFill>
                <a:latin typeface="Segoe UI"/>
                <a:ea typeface="Segoe UI"/>
                <a:cs typeface="Segoe UI"/>
              </a:defRPr>
            </a:pPr>
            <a:r>
              <a:rPr sz="1275" b="0">
                <a:solidFill>
                  <a:srgbClr val="405A70"/>
                </a:solidFill>
                <a:latin typeface="Segoe UI"/>
                <a:ea typeface="Segoe UI"/>
                <a:cs typeface="Segoe UI"/>
              </a:rPr>
              <a:t>Patient, payer, provider, organization, and condition context</a:t>
            </a:r>
          </a:p>
        </p:txBody>
      </p:sp>
      <p:sp>
        <p:nvSpPr>
          <p:cNvPr id="10" name="Rectangle 9">
            <a:extLst>
              <a:ext uri="{FF2B5EF4-FFF2-40B4-BE49-F238E27FC236}">
                <a16:creationId xmlns:a16="http://schemas.microsoft.com/office/drawing/2014/main" id="{4939F7A3-54D6-4FD1-9BBE-4A4FC427FD57}"/>
              </a:ext>
            </a:extLst>
          </p:cNvPr>
          <p:cNvSpPr>
            <a:spLocks noGrp="1"/>
          </p:cNvSpPr>
          <p:nvPr/>
        </p:nvSpPr>
        <p:spPr>
          <a:xfrm>
            <a:off x="8572500" y="3048000"/>
            <a:ext cx="2857500" cy="9525"/>
          </a:xfrm>
          <a:prstGeom prst="rect">
            <a:avLst/>
          </a:prstGeom>
          <a:solidFill>
            <a:srgbClr val="D9E4EC"/>
          </a:solidFill>
          <a:ln w="0">
            <a:noFill/>
            <a:prstDash val="solid"/>
          </a:ln>
        </p:spPr>
        <p:txBody>
          <a:bodyPr/>
          <a:lstStyle/>
          <a:p>
            <a:endParaRPr lang="en-US"/>
          </a:p>
        </p:txBody>
      </p:sp>
      <p:sp>
        <p:nvSpPr>
          <p:cNvPr id="11" name="Rectangle 10">
            <a:extLst>
              <a:ext uri="{FF2B5EF4-FFF2-40B4-BE49-F238E27FC236}">
                <a16:creationId xmlns:a16="http://schemas.microsoft.com/office/drawing/2014/main" id="{7C693254-DAF7-437A-B34D-5F9535EC210F}"/>
              </a:ext>
            </a:extLst>
          </p:cNvPr>
          <p:cNvSpPr>
            <a:spLocks noGrp="1"/>
          </p:cNvSpPr>
          <p:nvPr/>
        </p:nvSpPr>
        <p:spPr>
          <a:xfrm>
            <a:off x="8572500" y="3286125"/>
            <a:ext cx="762000" cy="619125"/>
          </a:xfrm>
          <a:prstGeom prst="rect">
            <a:avLst/>
          </a:prstGeom>
          <a:noFill/>
          <a:ln w="0">
            <a:noFill/>
            <a:prstDash val="solid"/>
          </a:ln>
        </p:spPr>
        <p:txBody>
          <a:bodyPr lIns="0" tIns="0" rIns="0" bIns="0" anchor="t">
            <a:normAutofit/>
          </a:bodyPr>
          <a:lstStyle>
            <a:defPPr algn="l">
              <a:defRPr sz="3750" b="1">
                <a:solidFill>
                  <a:srgbClr val="19A79B"/>
                </a:solidFill>
                <a:latin typeface="Segoe UI"/>
                <a:ea typeface="Segoe UI"/>
                <a:cs typeface="Segoe UI"/>
              </a:defRPr>
            </a:defPPr>
          </a:lstStyle>
          <a:p>
            <a:pPr algn="l">
              <a:defRPr sz="3750" b="1">
                <a:solidFill>
                  <a:srgbClr val="19A79B"/>
                </a:solidFill>
                <a:latin typeface="Segoe UI"/>
                <a:ea typeface="Segoe UI"/>
                <a:cs typeface="Segoe UI"/>
              </a:defRPr>
            </a:pPr>
            <a:r>
              <a:rPr sz="3750" b="1">
                <a:solidFill>
                  <a:srgbClr val="19A79B"/>
                </a:solidFill>
                <a:latin typeface="Segoe UI"/>
                <a:ea typeface="Segoe UI"/>
                <a:cs typeface="Segoe UI"/>
              </a:rPr>
              <a:t>2</a:t>
            </a:r>
          </a:p>
        </p:txBody>
      </p:sp>
      <p:sp>
        <p:nvSpPr>
          <p:cNvPr id="12" name="Rectangle 11">
            <a:extLst>
              <a:ext uri="{FF2B5EF4-FFF2-40B4-BE49-F238E27FC236}">
                <a16:creationId xmlns:a16="http://schemas.microsoft.com/office/drawing/2014/main" id="{8FE5AFAD-E708-4E3D-A985-A31D17E60986}"/>
              </a:ext>
            </a:extLst>
          </p:cNvPr>
          <p:cNvSpPr>
            <a:spLocks noGrp="1"/>
          </p:cNvSpPr>
          <p:nvPr/>
        </p:nvSpPr>
        <p:spPr>
          <a:xfrm>
            <a:off x="9334500" y="3476625"/>
            <a:ext cx="2095500" cy="333375"/>
          </a:xfrm>
          <a:prstGeom prst="rect">
            <a:avLst/>
          </a:prstGeom>
          <a:noFill/>
          <a:ln w="0">
            <a:noFill/>
            <a:prstDash val="solid"/>
          </a:ln>
        </p:spPr>
        <p:txBody>
          <a:bodyPr lIns="0" tIns="0" rIns="0" bIns="0" anchor="t">
            <a:normAutofit/>
          </a:bodyPr>
          <a:lstStyle>
            <a:defPPr algn="l">
              <a:defRPr sz="1725" b="1">
                <a:solidFill>
                  <a:srgbClr val="114873"/>
                </a:solidFill>
                <a:latin typeface="Segoe UI"/>
                <a:ea typeface="Segoe UI"/>
                <a:cs typeface="Segoe UI"/>
              </a:defRPr>
            </a:defPPr>
          </a:lstStyle>
          <a:p>
            <a:pPr algn="l">
              <a:defRPr sz="1725" b="1">
                <a:solidFill>
                  <a:srgbClr val="114873"/>
                </a:solidFill>
                <a:latin typeface="Segoe UI"/>
                <a:ea typeface="Segoe UI"/>
                <a:cs typeface="Segoe UI"/>
              </a:defRPr>
            </a:pPr>
            <a:r>
              <a:rPr sz="1725" b="1">
                <a:solidFill>
                  <a:srgbClr val="114873"/>
                </a:solidFill>
                <a:latin typeface="Segoe UI"/>
                <a:ea typeface="Segoe UI"/>
                <a:cs typeface="Segoe UI"/>
              </a:rPr>
              <a:t>fact tables</a:t>
            </a:r>
          </a:p>
        </p:txBody>
      </p:sp>
      <p:sp>
        <p:nvSpPr>
          <p:cNvPr id="13" name="Rectangle 12">
            <a:extLst>
              <a:ext uri="{FF2B5EF4-FFF2-40B4-BE49-F238E27FC236}">
                <a16:creationId xmlns:a16="http://schemas.microsoft.com/office/drawing/2014/main" id="{F8AECC31-71A9-44C7-BE81-3F1F983735BC}"/>
              </a:ext>
            </a:extLst>
          </p:cNvPr>
          <p:cNvSpPr>
            <a:spLocks noGrp="1"/>
          </p:cNvSpPr>
          <p:nvPr/>
        </p:nvSpPr>
        <p:spPr>
          <a:xfrm>
            <a:off x="8572500" y="4000500"/>
            <a:ext cx="2857500" cy="1000125"/>
          </a:xfrm>
          <a:prstGeom prst="rect">
            <a:avLst/>
          </a:prstGeom>
          <a:noFill/>
          <a:ln w="0">
            <a:noFill/>
            <a:prstDash val="solid"/>
          </a:ln>
        </p:spPr>
        <p:txBody>
          <a:bodyPr lIns="0" tIns="0" rIns="0" bIns="0" anchor="t">
            <a:normAutofit/>
          </a:bodyPr>
          <a:lstStyle>
            <a:defPPr algn="l">
              <a:defRPr sz="1275" b="0">
                <a:solidFill>
                  <a:srgbClr val="405A70"/>
                </a:solidFill>
                <a:latin typeface="Segoe UI"/>
                <a:ea typeface="Segoe UI"/>
                <a:cs typeface="Segoe UI"/>
              </a:defRPr>
            </a:defPPr>
          </a:lstStyle>
          <a:p>
            <a:pPr algn="l">
              <a:defRPr sz="1275" b="0">
                <a:solidFill>
                  <a:srgbClr val="405A70"/>
                </a:solidFill>
                <a:latin typeface="Segoe UI"/>
                <a:ea typeface="Segoe UI"/>
                <a:cs typeface="Segoe UI"/>
              </a:defRPr>
            </a:pPr>
            <a:r>
              <a:rPr sz="1275" b="0">
                <a:solidFill>
                  <a:srgbClr val="405A70"/>
                </a:solidFill>
                <a:latin typeface="Segoe UI"/>
                <a:ea typeface="Segoe UI"/>
                <a:cs typeface="Segoe UI"/>
              </a:rPr>
              <a:t>One encounter row in fact_encounter. One recorded condition occurrence in fact_condition.</a:t>
            </a:r>
          </a:p>
        </p:txBody>
      </p:sp>
      <p:sp>
        <p:nvSpPr>
          <p:cNvPr id="14" name="Rectangle 13">
            <a:extLst>
              <a:ext uri="{FF2B5EF4-FFF2-40B4-BE49-F238E27FC236}">
                <a16:creationId xmlns:a16="http://schemas.microsoft.com/office/drawing/2014/main" id="{98685480-7E74-41F9-A54F-13DEF33C63E4}"/>
              </a:ext>
            </a:extLst>
          </p:cNvPr>
          <p:cNvSpPr>
            <a:spLocks noGrp="1"/>
          </p:cNvSpPr>
          <p:nvPr/>
        </p:nvSpPr>
        <p:spPr>
          <a:xfrm>
            <a:off x="8572500" y="5219700"/>
            <a:ext cx="2857500" cy="9525"/>
          </a:xfrm>
          <a:prstGeom prst="rect">
            <a:avLst/>
          </a:prstGeom>
          <a:solidFill>
            <a:srgbClr val="D9E4EC"/>
          </a:solidFill>
          <a:ln w="0">
            <a:noFill/>
            <a:prstDash val="solid"/>
          </a:ln>
        </p:spPr>
        <p:txBody>
          <a:bodyPr/>
          <a:lstStyle/>
          <a:p>
            <a:endParaRPr lang="en-US"/>
          </a:p>
        </p:txBody>
      </p:sp>
      <p:sp>
        <p:nvSpPr>
          <p:cNvPr id="15" name="Rectangle 14">
            <a:extLst>
              <a:ext uri="{FF2B5EF4-FFF2-40B4-BE49-F238E27FC236}">
                <a16:creationId xmlns:a16="http://schemas.microsoft.com/office/drawing/2014/main" id="{5834D0D9-FFDA-454C-B266-B08F392E34A9}"/>
              </a:ext>
            </a:extLst>
          </p:cNvPr>
          <p:cNvSpPr>
            <a:spLocks noGrp="1"/>
          </p:cNvSpPr>
          <p:nvPr/>
        </p:nvSpPr>
        <p:spPr>
          <a:xfrm>
            <a:off x="8572500" y="5429250"/>
            <a:ext cx="2857500" cy="714375"/>
          </a:xfrm>
          <a:prstGeom prst="rect">
            <a:avLst/>
          </a:prstGeom>
          <a:noFill/>
          <a:ln w="0">
            <a:noFill/>
            <a:prstDash val="solid"/>
          </a:ln>
        </p:spPr>
        <p:txBody>
          <a:bodyPr lIns="0" tIns="0" rIns="0" bIns="0" anchor="t">
            <a:normAutofit/>
          </a:bodyPr>
          <a:lstStyle>
            <a:defPPr algn="l">
              <a:defRPr sz="1275" b="0">
                <a:solidFill>
                  <a:srgbClr val="405A70"/>
                </a:solidFill>
                <a:latin typeface="Segoe UI"/>
                <a:ea typeface="Segoe UI"/>
                <a:cs typeface="Segoe UI"/>
              </a:defRPr>
            </a:defPPr>
          </a:lstStyle>
          <a:p>
            <a:pPr algn="l">
              <a:defRPr sz="1275" b="0">
                <a:solidFill>
                  <a:srgbClr val="405A70"/>
                </a:solidFill>
                <a:latin typeface="Segoe UI"/>
                <a:ea typeface="Segoe UI"/>
                <a:cs typeface="Segoe UI"/>
              </a:defRPr>
            </a:pPr>
            <a:r>
              <a:rPr sz="1275" b="0">
                <a:solidFill>
                  <a:srgbClr val="405A70"/>
                </a:solidFill>
                <a:latin typeface="Segoe UI"/>
                <a:ea typeface="Segoe UI"/>
                <a:cs typeface="Segoe UI"/>
              </a:rPr>
              <a:t>Surrogate integer keys connect the analytical facts to reusable dimension records.</a:t>
            </a:r>
          </a:p>
        </p:txBody>
      </p:sp>
      <p:sp>
        <p:nvSpPr>
          <p:cNvPr id="16" name="Rectangle 15">
            <a:extLst>
              <a:ext uri="{FF2B5EF4-FFF2-40B4-BE49-F238E27FC236}">
                <a16:creationId xmlns:a16="http://schemas.microsoft.com/office/drawing/2014/main" id="{EB5556AC-2950-499F-82B9-943F8CA9853D}"/>
              </a:ext>
            </a:extLst>
          </p:cNvPr>
          <p:cNvSpPr>
            <a:spLocks noGrp="1"/>
          </p:cNvSpPr>
          <p:nvPr/>
        </p:nvSpPr>
        <p:spPr>
          <a:xfrm>
            <a:off x="609600" y="6543675"/>
            <a:ext cx="10972800" cy="9525"/>
          </a:xfrm>
          <a:prstGeom prst="rect">
            <a:avLst/>
          </a:prstGeom>
          <a:solidFill>
            <a:srgbClr val="D9E4EC"/>
          </a:solidFill>
          <a:ln w="0">
            <a:noFill/>
            <a:prstDash val="solid"/>
          </a:ln>
        </p:spPr>
        <p:txBody>
          <a:bodyPr/>
          <a:lstStyle/>
          <a:p>
            <a:endParaRPr lang="en-US"/>
          </a:p>
        </p:txBody>
      </p:sp>
      <p:sp>
        <p:nvSpPr>
          <p:cNvPr id="17" name="Rectangle 16">
            <a:extLst>
              <a:ext uri="{FF2B5EF4-FFF2-40B4-BE49-F238E27FC236}">
                <a16:creationId xmlns:a16="http://schemas.microsoft.com/office/drawing/2014/main" id="{D13FEF7F-2659-4A51-8EFB-82DB61131879}"/>
              </a:ext>
            </a:extLst>
          </p:cNvPr>
          <p:cNvSpPr>
            <a:spLocks noGrp="1"/>
          </p:cNvSpPr>
          <p:nvPr/>
        </p:nvSpPr>
        <p:spPr>
          <a:xfrm>
            <a:off x="609600" y="6600825"/>
            <a:ext cx="6953250" cy="171450"/>
          </a:xfrm>
          <a:prstGeom prst="rect">
            <a:avLst/>
          </a:prstGeom>
          <a:noFill/>
          <a:ln w="0">
            <a:noFill/>
            <a:prstDash val="solid"/>
          </a:ln>
        </p:spPr>
        <p:txBody>
          <a:bodyPr lIns="0" tIns="0" rIns="0" bIns="0" anchor="t">
            <a:normAutofit/>
          </a:bodyPr>
          <a:lstStyle>
            <a:defPPr algn="l">
              <a:defRPr sz="750" b="0">
                <a:solidFill>
                  <a:srgbClr val="6F8598"/>
                </a:solidFill>
                <a:latin typeface="Segoe UI"/>
                <a:ea typeface="Segoe UI"/>
                <a:cs typeface="Segoe UI"/>
              </a:defRPr>
            </a:defPPr>
          </a:lstStyle>
          <a:p>
            <a:pPr algn="l">
              <a:defRPr sz="750" b="0">
                <a:solidFill>
                  <a:srgbClr val="6F8598"/>
                </a:solidFill>
                <a:latin typeface="Segoe UI"/>
                <a:ea typeface="Segoe UI"/>
                <a:cs typeface="Segoe UI"/>
              </a:defRPr>
            </a:pPr>
            <a:r>
              <a:rPr sz="750" b="0">
                <a:solidFill>
                  <a:srgbClr val="6F8598"/>
                </a:solidFill>
                <a:latin typeface="Segoe UI"/>
                <a:ea typeface="Segoe UI"/>
                <a:cs typeface="Segoe UI"/>
              </a:rPr>
              <a:t>Synthetic healthcare data generated by Synthea</a:t>
            </a:r>
          </a:p>
        </p:txBody>
      </p:sp>
    </p:spTree>
    <p:extLst>
      <p:ext uri="{BB962C8B-B14F-4D97-AF65-F5344CB8AC3E}">
        <p14:creationId xmlns:p14="http://schemas.microsoft.com/office/powerpoint/2010/main" val="3500741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3F7FA"/>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C6A5EF11-C7B8-46A0-AD92-002B2D198AFC}"/>
              </a:ext>
            </a:extLst>
          </p:cNvPr>
          <p:cNvSpPr>
            <a:spLocks noGrp="1"/>
          </p:cNvSpPr>
          <p:nvPr/>
        </p:nvSpPr>
        <p:spPr>
          <a:xfrm>
            <a:off x="0" y="0"/>
            <a:ext cx="12192000" cy="76200"/>
          </a:xfrm>
          <a:prstGeom prst="rect">
            <a:avLst/>
          </a:prstGeom>
          <a:solidFill>
            <a:srgbClr val="114873"/>
          </a:solidFill>
          <a:ln w="0">
            <a:noFill/>
            <a:prstDash val="solid"/>
          </a:ln>
        </p:spPr>
        <p:txBody>
          <a:bodyPr/>
          <a:lstStyle/>
          <a:p>
            <a:endParaRPr lang="en-US"/>
          </a:p>
        </p:txBody>
      </p:sp>
      <p:sp>
        <p:nvSpPr>
          <p:cNvPr id="2" name="Rectangle 1">
            <a:extLst>
              <a:ext uri="{FF2B5EF4-FFF2-40B4-BE49-F238E27FC236}">
                <a16:creationId xmlns:a16="http://schemas.microsoft.com/office/drawing/2014/main" id="{BA3E40A7-BB89-4604-8BB7-407752A1A865}"/>
              </a:ext>
            </a:extLst>
          </p:cNvPr>
          <p:cNvSpPr>
            <a:spLocks noGrp="1"/>
          </p:cNvSpPr>
          <p:nvPr/>
        </p:nvSpPr>
        <p:spPr>
          <a:xfrm>
            <a:off x="609600" y="285750"/>
            <a:ext cx="9906000" cy="495300"/>
          </a:xfrm>
          <a:prstGeom prst="rect">
            <a:avLst/>
          </a:prstGeom>
          <a:noFill/>
          <a:ln w="0">
            <a:noFill/>
            <a:prstDash val="solid"/>
          </a:ln>
        </p:spPr>
        <p:txBody>
          <a:bodyPr lIns="0" tIns="0" rIns="0" bIns="0" anchor="ctr">
            <a:normAutofit/>
          </a:bodyPr>
          <a:lstStyle>
            <a:defPPr algn="l">
              <a:defRPr sz="2550" b="1">
                <a:solidFill>
                  <a:srgbClr val="114873"/>
                </a:solidFill>
                <a:latin typeface="Segoe UI"/>
                <a:ea typeface="Segoe UI"/>
                <a:cs typeface="Segoe UI"/>
              </a:defRPr>
            </a:defPPr>
          </a:lstStyle>
          <a:p>
            <a:pPr algn="l">
              <a:defRPr sz="2550" b="1">
                <a:solidFill>
                  <a:srgbClr val="114873"/>
                </a:solidFill>
                <a:latin typeface="Segoe UI"/>
                <a:ea typeface="Segoe UI"/>
                <a:cs typeface="Segoe UI"/>
              </a:defRPr>
            </a:pPr>
            <a:r>
              <a:rPr sz="2550" b="1">
                <a:solidFill>
                  <a:srgbClr val="114873"/>
                </a:solidFill>
                <a:latin typeface="Segoe UI"/>
                <a:ea typeface="Segoe UI"/>
                <a:cs typeface="Segoe UI"/>
              </a:rPr>
              <a:t>Power BI dashboard</a:t>
            </a:r>
          </a:p>
        </p:txBody>
      </p:sp>
      <p:sp>
        <p:nvSpPr>
          <p:cNvPr id="3" name="Rectangle 2">
            <a:extLst>
              <a:ext uri="{FF2B5EF4-FFF2-40B4-BE49-F238E27FC236}">
                <a16:creationId xmlns:a16="http://schemas.microsoft.com/office/drawing/2014/main" id="{4DFFDE0E-429C-40D0-A722-C80CFC6AD69E}"/>
              </a:ext>
            </a:extLst>
          </p:cNvPr>
          <p:cNvSpPr>
            <a:spLocks noGrp="1"/>
          </p:cNvSpPr>
          <p:nvPr/>
        </p:nvSpPr>
        <p:spPr>
          <a:xfrm>
            <a:off x="628650" y="781050"/>
            <a:ext cx="10287000" cy="304800"/>
          </a:xfrm>
          <a:prstGeom prst="rect">
            <a:avLst/>
          </a:prstGeom>
          <a:noFill/>
          <a:ln w="0">
            <a:noFill/>
            <a:prstDash val="solid"/>
          </a:ln>
        </p:spPr>
        <p:txBody>
          <a:bodyPr lIns="0" tIns="0" rIns="0" bIns="0" anchor="ctr">
            <a:normAutofit/>
          </a:bodyPr>
          <a:lstStyle>
            <a:defPPr algn="l">
              <a:defRPr sz="1200" b="0">
                <a:solidFill>
                  <a:srgbClr val="6F8598"/>
                </a:solidFill>
                <a:latin typeface="Segoe UI"/>
                <a:ea typeface="Segoe UI"/>
                <a:cs typeface="Segoe UI"/>
              </a:defRPr>
            </a:defPPr>
          </a:lstStyle>
          <a:p>
            <a:pPr algn="l">
              <a:defRPr sz="1200" b="0">
                <a:solidFill>
                  <a:srgbClr val="6F8598"/>
                </a:solidFill>
                <a:latin typeface="Segoe UI"/>
                <a:ea typeface="Segoe UI"/>
                <a:cs typeface="Segoe UI"/>
              </a:defRPr>
            </a:pPr>
            <a:r>
              <a:rPr sz="1200" b="0">
                <a:solidFill>
                  <a:srgbClr val="6F8598"/>
                </a:solidFill>
                <a:latin typeface="Segoe UI"/>
                <a:ea typeface="Segoe UI"/>
                <a:cs typeface="Segoe UI"/>
              </a:rPr>
              <a:t>Interactive view of claim cost, utilization, recorded conditions, organization volume, and patient filters</a:t>
            </a:r>
          </a:p>
        </p:txBody>
      </p:sp>
      <p:sp>
        <p:nvSpPr>
          <p:cNvPr id="4" name="Rectangle 3">
            <a:extLst>
              <a:ext uri="{FF2B5EF4-FFF2-40B4-BE49-F238E27FC236}">
                <a16:creationId xmlns:a16="http://schemas.microsoft.com/office/drawing/2014/main" id="{E50B34D5-87D0-4350-9CA4-27F47D4C7D10}"/>
              </a:ext>
            </a:extLst>
          </p:cNvPr>
          <p:cNvSpPr>
            <a:spLocks noGrp="1"/>
          </p:cNvSpPr>
          <p:nvPr/>
        </p:nvSpPr>
        <p:spPr>
          <a:xfrm>
            <a:off x="11144250" y="361950"/>
            <a:ext cx="457200" cy="285750"/>
          </a:xfrm>
          <a:prstGeom prst="rect">
            <a:avLst/>
          </a:prstGeom>
          <a:noFill/>
          <a:ln w="0">
            <a:noFill/>
            <a:prstDash val="solid"/>
          </a:ln>
        </p:spPr>
        <p:txBody>
          <a:bodyPr lIns="0" tIns="0" rIns="0" bIns="0" anchor="t">
            <a:normAutofit/>
          </a:bodyPr>
          <a:lstStyle>
            <a:defPPr algn="r">
              <a:defRPr sz="1050" b="1">
                <a:solidFill>
                  <a:srgbClr val="6F8598"/>
                </a:solidFill>
                <a:latin typeface="Segoe UI"/>
                <a:ea typeface="Segoe UI"/>
                <a:cs typeface="Segoe UI"/>
              </a:defRPr>
            </a:defPPr>
          </a:lstStyle>
          <a:p>
            <a:pPr algn="r">
              <a:defRPr sz="1050" b="1">
                <a:solidFill>
                  <a:srgbClr val="6F8598"/>
                </a:solidFill>
                <a:latin typeface="Segoe UI"/>
                <a:ea typeface="Segoe UI"/>
                <a:cs typeface="Segoe UI"/>
              </a:defRPr>
            </a:pPr>
            <a:r>
              <a:rPr sz="1050" b="1">
                <a:solidFill>
                  <a:srgbClr val="6F8598"/>
                </a:solidFill>
                <a:latin typeface="Segoe UI"/>
                <a:ea typeface="Segoe UI"/>
                <a:cs typeface="Segoe UI"/>
              </a:rPr>
              <a:t>05</a:t>
            </a:r>
          </a:p>
        </p:txBody>
      </p:sp>
      <p:pic>
        <p:nvPicPr>
          <p:cNvPr id="5" name="Picture 4">
            <a:extLst>
              <a:ext uri="{FF2B5EF4-FFF2-40B4-BE49-F238E27FC236}">
                <a16:creationId xmlns:a16="http://schemas.microsoft.com/office/drawing/2014/main" id="{50FE1DB3-C26A-4021-AC84-9AEDF028569F}"/>
              </a:ext>
            </a:extLst>
          </p:cNvPr>
          <p:cNvPicPr>
            <a:picLocks noChangeAspect="1"/>
          </p:cNvPicPr>
          <p:nvPr/>
        </p:nvPicPr>
        <p:blipFill>
          <a:blip r:embed="rId3"/>
          <a:stretch/>
        </p:blipFill>
        <p:spPr>
          <a:xfrm>
            <a:off x="1381125" y="1119454"/>
            <a:ext cx="9429750" cy="5304893"/>
          </a:xfrm>
          <a:prstGeom prst="rect">
            <a:avLst/>
          </a:prstGeom>
        </p:spPr>
      </p:pic>
      <p:pic>
        <p:nvPicPr>
          <p:cNvPr id="6" name="Picture 5">
            <a:extLst>
              <a:ext uri="{FF2B5EF4-FFF2-40B4-BE49-F238E27FC236}">
                <a16:creationId xmlns:a16="http://schemas.microsoft.com/office/drawing/2014/main" id="{6F181281-2704-4C16-A90D-1E41E3DCEC8A}"/>
              </a:ext>
            </a:extLst>
          </p:cNvPr>
          <p:cNvPicPr>
            <a:picLocks noChangeAspect="1"/>
          </p:cNvPicPr>
          <p:nvPr/>
        </p:nvPicPr>
        <p:blipFill>
          <a:blip r:embed="rId4"/>
          <a:srcRect l="2080" r="2080"/>
          <a:stretch>
            <a:fillRect/>
          </a:stretch>
        </p:blipFill>
        <p:spPr>
          <a:xfrm>
            <a:off x="6152579" y="2406396"/>
            <a:ext cx="4611148" cy="1930908"/>
          </a:xfrm>
          <a:prstGeom prst="rect">
            <a:avLst/>
          </a:prstGeom>
        </p:spPr>
      </p:pic>
      <p:sp>
        <p:nvSpPr>
          <p:cNvPr id="7" name="Oval 6">
            <a:extLst>
              <a:ext uri="{FF2B5EF4-FFF2-40B4-BE49-F238E27FC236}">
                <a16:creationId xmlns:a16="http://schemas.microsoft.com/office/drawing/2014/main" id="{707B46EE-D66E-46DA-A913-8F433D05E59D}"/>
              </a:ext>
            </a:extLst>
          </p:cNvPr>
          <p:cNvSpPr>
            <a:spLocks noGrp="1"/>
          </p:cNvSpPr>
          <p:nvPr/>
        </p:nvSpPr>
        <p:spPr>
          <a:xfrm>
            <a:off x="9315450" y="2914650"/>
            <a:ext cx="104775" cy="104775"/>
          </a:xfrm>
          <a:prstGeom prst="ellipse">
            <a:avLst/>
          </a:prstGeom>
          <a:solidFill>
            <a:srgbClr val="FFFFFF"/>
          </a:solidFill>
          <a:ln w="0">
            <a:solidFill>
              <a:srgbClr val="FFFFFF"/>
            </a:solidFill>
            <a:prstDash val="solid"/>
          </a:ln>
        </p:spPr>
        <p:txBody>
          <a:bodyPr/>
          <a:lstStyle/>
          <a:p>
            <a:endParaRPr lang="en-US"/>
          </a:p>
        </p:txBody>
      </p:sp>
    </p:spTree>
    <p:extLst>
      <p:ext uri="{BB962C8B-B14F-4D97-AF65-F5344CB8AC3E}">
        <p14:creationId xmlns:p14="http://schemas.microsoft.com/office/powerpoint/2010/main" val="106742624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221B1BE3-2A57-4756-A8AD-2CCA474AF1C2}"/>
              </a:ext>
            </a:extLst>
          </p:cNvPr>
          <p:cNvSpPr>
            <a:spLocks noGrp="1"/>
          </p:cNvSpPr>
          <p:nvPr/>
        </p:nvSpPr>
        <p:spPr>
          <a:xfrm>
            <a:off x="0" y="0"/>
            <a:ext cx="12192000" cy="76200"/>
          </a:xfrm>
          <a:prstGeom prst="rect">
            <a:avLst/>
          </a:prstGeom>
          <a:solidFill>
            <a:srgbClr val="114873"/>
          </a:solidFill>
          <a:ln w="0">
            <a:noFill/>
            <a:prstDash val="solid"/>
          </a:ln>
        </p:spPr>
        <p:txBody>
          <a:bodyPr/>
          <a:lstStyle/>
          <a:p>
            <a:endParaRPr lang="en-US"/>
          </a:p>
        </p:txBody>
      </p:sp>
      <p:sp>
        <p:nvSpPr>
          <p:cNvPr id="2" name="Rectangle 1">
            <a:extLst>
              <a:ext uri="{FF2B5EF4-FFF2-40B4-BE49-F238E27FC236}">
                <a16:creationId xmlns:a16="http://schemas.microsoft.com/office/drawing/2014/main" id="{998D37FC-E309-4A0B-912E-5D9E0F20E16F}"/>
              </a:ext>
            </a:extLst>
          </p:cNvPr>
          <p:cNvSpPr>
            <a:spLocks noGrp="1"/>
          </p:cNvSpPr>
          <p:nvPr/>
        </p:nvSpPr>
        <p:spPr>
          <a:xfrm>
            <a:off x="609600" y="285750"/>
            <a:ext cx="9906000" cy="495300"/>
          </a:xfrm>
          <a:prstGeom prst="rect">
            <a:avLst/>
          </a:prstGeom>
          <a:noFill/>
          <a:ln w="0">
            <a:noFill/>
            <a:prstDash val="solid"/>
          </a:ln>
        </p:spPr>
        <p:txBody>
          <a:bodyPr lIns="0" tIns="0" rIns="0" bIns="0" anchor="ctr">
            <a:normAutofit/>
          </a:bodyPr>
          <a:lstStyle>
            <a:defPPr algn="l">
              <a:defRPr sz="2550" b="1">
                <a:solidFill>
                  <a:srgbClr val="114873"/>
                </a:solidFill>
                <a:latin typeface="Segoe UI"/>
                <a:ea typeface="Segoe UI"/>
                <a:cs typeface="Segoe UI"/>
              </a:defRPr>
            </a:defPPr>
          </a:lstStyle>
          <a:p>
            <a:pPr algn="l">
              <a:defRPr sz="2550" b="1">
                <a:solidFill>
                  <a:srgbClr val="114873"/>
                </a:solidFill>
                <a:latin typeface="Segoe UI"/>
                <a:ea typeface="Segoe UI"/>
                <a:cs typeface="Segoe UI"/>
              </a:defRPr>
            </a:pPr>
            <a:r>
              <a:rPr sz="2550" b="1">
                <a:solidFill>
                  <a:srgbClr val="114873"/>
                </a:solidFill>
                <a:latin typeface="Segoe UI"/>
                <a:ea typeface="Segoe UI"/>
                <a:cs typeface="Segoe UI"/>
              </a:rPr>
              <a:t>Ambulatory encounters account for 51% of claim cost</a:t>
            </a:r>
          </a:p>
        </p:txBody>
      </p:sp>
      <p:sp>
        <p:nvSpPr>
          <p:cNvPr id="3" name="Rectangle 2">
            <a:extLst>
              <a:ext uri="{FF2B5EF4-FFF2-40B4-BE49-F238E27FC236}">
                <a16:creationId xmlns:a16="http://schemas.microsoft.com/office/drawing/2014/main" id="{6E057AA8-1777-4836-A6B7-E2761784CE54}"/>
              </a:ext>
            </a:extLst>
          </p:cNvPr>
          <p:cNvSpPr>
            <a:spLocks noGrp="1"/>
          </p:cNvSpPr>
          <p:nvPr/>
        </p:nvSpPr>
        <p:spPr>
          <a:xfrm>
            <a:off x="628650" y="781050"/>
            <a:ext cx="10287000" cy="304800"/>
          </a:xfrm>
          <a:prstGeom prst="rect">
            <a:avLst/>
          </a:prstGeom>
          <a:noFill/>
          <a:ln w="0">
            <a:noFill/>
            <a:prstDash val="solid"/>
          </a:ln>
        </p:spPr>
        <p:txBody>
          <a:bodyPr lIns="0" tIns="0" rIns="0" bIns="0" anchor="ctr">
            <a:normAutofit/>
          </a:bodyPr>
          <a:lstStyle>
            <a:defPPr algn="l">
              <a:defRPr sz="1200" b="0">
                <a:solidFill>
                  <a:srgbClr val="6F8598"/>
                </a:solidFill>
                <a:latin typeface="Segoe UI"/>
                <a:ea typeface="Segoe UI"/>
                <a:cs typeface="Segoe UI"/>
              </a:defRPr>
            </a:defPPr>
          </a:lstStyle>
          <a:p>
            <a:pPr algn="l">
              <a:defRPr sz="1200" b="0">
                <a:solidFill>
                  <a:srgbClr val="6F8598"/>
                </a:solidFill>
                <a:latin typeface="Segoe UI"/>
                <a:ea typeface="Segoe UI"/>
                <a:cs typeface="Segoe UI"/>
              </a:defRPr>
            </a:pPr>
            <a:r>
              <a:rPr sz="1200" b="0">
                <a:solidFill>
                  <a:srgbClr val="6F8598"/>
                </a:solidFill>
                <a:latin typeface="Segoe UI"/>
                <a:ea typeface="Segoe UI"/>
                <a:cs typeface="Segoe UI"/>
              </a:rPr>
              <a:t>Wellness generated more encounters, but ambulatory visits carried substantially higher average cost</a:t>
            </a:r>
          </a:p>
        </p:txBody>
      </p:sp>
      <p:sp>
        <p:nvSpPr>
          <p:cNvPr id="4" name="Rectangle 3">
            <a:extLst>
              <a:ext uri="{FF2B5EF4-FFF2-40B4-BE49-F238E27FC236}">
                <a16:creationId xmlns:a16="http://schemas.microsoft.com/office/drawing/2014/main" id="{4DAF983B-7798-494D-A69C-FDE370249576}"/>
              </a:ext>
            </a:extLst>
          </p:cNvPr>
          <p:cNvSpPr>
            <a:spLocks noGrp="1"/>
          </p:cNvSpPr>
          <p:nvPr/>
        </p:nvSpPr>
        <p:spPr>
          <a:xfrm>
            <a:off x="11144250" y="361950"/>
            <a:ext cx="457200" cy="285750"/>
          </a:xfrm>
          <a:prstGeom prst="rect">
            <a:avLst/>
          </a:prstGeom>
          <a:noFill/>
          <a:ln w="0">
            <a:noFill/>
            <a:prstDash val="solid"/>
          </a:ln>
        </p:spPr>
        <p:txBody>
          <a:bodyPr lIns="0" tIns="0" rIns="0" bIns="0" anchor="t">
            <a:normAutofit/>
          </a:bodyPr>
          <a:lstStyle>
            <a:defPPr algn="r">
              <a:defRPr sz="1050" b="1">
                <a:solidFill>
                  <a:srgbClr val="6F8598"/>
                </a:solidFill>
                <a:latin typeface="Segoe UI"/>
                <a:ea typeface="Segoe UI"/>
                <a:cs typeface="Segoe UI"/>
              </a:defRPr>
            </a:defPPr>
          </a:lstStyle>
          <a:p>
            <a:pPr algn="r">
              <a:defRPr sz="1050" b="1">
                <a:solidFill>
                  <a:srgbClr val="6F8598"/>
                </a:solidFill>
                <a:latin typeface="Segoe UI"/>
                <a:ea typeface="Segoe UI"/>
                <a:cs typeface="Segoe UI"/>
              </a:defRPr>
            </a:pPr>
            <a:r>
              <a:rPr sz="1050" b="1">
                <a:solidFill>
                  <a:srgbClr val="6F8598"/>
                </a:solidFill>
                <a:latin typeface="Segoe UI"/>
                <a:ea typeface="Segoe UI"/>
                <a:cs typeface="Segoe UI"/>
              </a:rPr>
              <a:t>06</a:t>
            </a:r>
          </a:p>
        </p:txBody>
      </p:sp>
      <p:graphicFrame>
        <p:nvGraphicFramePr>
          <p:cNvPr id="5" name="Chart">
            <a:extLst>
              <a:ext uri="{FF2B5EF4-FFF2-40B4-BE49-F238E27FC236}">
                <a16:creationId xmlns:a16="http://schemas.microsoft.com/office/drawing/2014/main" id="{E1AB5E06-7EEA-4E30-9BFD-05BF17D32066}"/>
              </a:ext>
            </a:extLst>
          </p:cNvPr>
          <p:cNvGraphicFramePr/>
          <p:nvPr/>
        </p:nvGraphicFramePr>
        <p:xfrm>
          <a:off x="666750" y="1476375"/>
          <a:ext cx="6858000" cy="4333875"/>
        </p:xfrm>
        <a:graphic>
          <a:graphicData uri="http://schemas.openxmlformats.org/drawingml/2006/chart">
            <c:chart xmlns:c="http://schemas.openxmlformats.org/drawingml/2006/chart" xmlns:r="http://schemas.openxmlformats.org/officeDocument/2006/relationships" r:id="rId3"/>
          </a:graphicData>
        </a:graphic>
      </p:graphicFrame>
      <p:sp>
        <p:nvSpPr>
          <p:cNvPr id="6" name="Rectangle 5">
            <a:extLst>
              <a:ext uri="{FF2B5EF4-FFF2-40B4-BE49-F238E27FC236}">
                <a16:creationId xmlns:a16="http://schemas.microsoft.com/office/drawing/2014/main" id="{604FB1C0-10BC-4A55-8B4B-0197CCEB4FD6}"/>
              </a:ext>
            </a:extLst>
          </p:cNvPr>
          <p:cNvSpPr>
            <a:spLocks noGrp="1"/>
          </p:cNvSpPr>
          <p:nvPr/>
        </p:nvSpPr>
        <p:spPr>
          <a:xfrm>
            <a:off x="8096250" y="1571625"/>
            <a:ext cx="2762250" cy="685800"/>
          </a:xfrm>
          <a:prstGeom prst="rect">
            <a:avLst/>
          </a:prstGeom>
          <a:noFill/>
          <a:ln w="0">
            <a:noFill/>
            <a:prstDash val="solid"/>
          </a:ln>
        </p:spPr>
        <p:txBody>
          <a:bodyPr lIns="0" tIns="0" rIns="0" bIns="0" anchor="t">
            <a:normAutofit/>
          </a:bodyPr>
          <a:lstStyle>
            <a:defPPr algn="l">
              <a:defRPr sz="4050" b="1">
                <a:solidFill>
                  <a:srgbClr val="F4A23C"/>
                </a:solidFill>
                <a:latin typeface="Segoe UI"/>
                <a:ea typeface="Segoe UI"/>
                <a:cs typeface="Segoe UI"/>
              </a:defRPr>
            </a:defPPr>
          </a:lstStyle>
          <a:p>
            <a:pPr algn="l">
              <a:defRPr sz="4050" b="1">
                <a:solidFill>
                  <a:srgbClr val="F4A23C"/>
                </a:solidFill>
                <a:latin typeface="Segoe UI"/>
                <a:ea typeface="Segoe UI"/>
                <a:cs typeface="Segoe UI"/>
              </a:defRPr>
            </a:pPr>
            <a:r>
              <a:rPr sz="4050" b="1">
                <a:solidFill>
                  <a:srgbClr val="F4A23C"/>
                </a:solidFill>
                <a:latin typeface="Segoe UI"/>
                <a:ea typeface="Segoe UI"/>
                <a:cs typeface="Segoe UI"/>
              </a:rPr>
              <a:t>3.4×</a:t>
            </a:r>
          </a:p>
        </p:txBody>
      </p:sp>
      <p:sp>
        <p:nvSpPr>
          <p:cNvPr id="7" name="Rectangle 6">
            <a:extLst>
              <a:ext uri="{FF2B5EF4-FFF2-40B4-BE49-F238E27FC236}">
                <a16:creationId xmlns:a16="http://schemas.microsoft.com/office/drawing/2014/main" id="{E04F19A6-5801-459B-9F69-ABD3956D730D}"/>
              </a:ext>
            </a:extLst>
          </p:cNvPr>
          <p:cNvSpPr>
            <a:spLocks noGrp="1"/>
          </p:cNvSpPr>
          <p:nvPr/>
        </p:nvSpPr>
        <p:spPr>
          <a:xfrm>
            <a:off x="8096250" y="2209800"/>
            <a:ext cx="2952750" cy="571500"/>
          </a:xfrm>
          <a:prstGeom prst="rect">
            <a:avLst/>
          </a:prstGeom>
          <a:noFill/>
          <a:ln w="0">
            <a:noFill/>
            <a:prstDash val="solid"/>
          </a:ln>
        </p:spPr>
        <p:txBody>
          <a:bodyPr lIns="0" tIns="0" rIns="0" bIns="0" anchor="t">
            <a:normAutofit/>
          </a:bodyPr>
          <a:lstStyle>
            <a:defPPr algn="l">
              <a:defRPr sz="1500" b="1">
                <a:solidFill>
                  <a:srgbClr val="114873"/>
                </a:solidFill>
                <a:latin typeface="Segoe UI"/>
                <a:ea typeface="Segoe UI"/>
                <a:cs typeface="Segoe UI"/>
              </a:defRPr>
            </a:defPPr>
          </a:lstStyle>
          <a:p>
            <a:pPr algn="l">
              <a:defRPr sz="1500" b="1">
                <a:solidFill>
                  <a:srgbClr val="114873"/>
                </a:solidFill>
                <a:latin typeface="Segoe UI"/>
                <a:ea typeface="Segoe UI"/>
                <a:cs typeface="Segoe UI"/>
              </a:defRPr>
            </a:pPr>
            <a:r>
              <a:rPr sz="1500" b="1">
                <a:solidFill>
                  <a:srgbClr val="114873"/>
                </a:solidFill>
                <a:latin typeface="Segoe UI"/>
                <a:ea typeface="Segoe UI"/>
                <a:cs typeface="Segoe UI"/>
              </a:rPr>
              <a:t>higher average cost per encounter</a:t>
            </a:r>
          </a:p>
        </p:txBody>
      </p:sp>
      <p:sp>
        <p:nvSpPr>
          <p:cNvPr id="8" name="Rectangle 7">
            <a:extLst>
              <a:ext uri="{FF2B5EF4-FFF2-40B4-BE49-F238E27FC236}">
                <a16:creationId xmlns:a16="http://schemas.microsoft.com/office/drawing/2014/main" id="{B1FEF459-4703-4A66-A31C-B382C7B5ED3E}"/>
              </a:ext>
            </a:extLst>
          </p:cNvPr>
          <p:cNvSpPr>
            <a:spLocks noGrp="1"/>
          </p:cNvSpPr>
          <p:nvPr/>
        </p:nvSpPr>
        <p:spPr>
          <a:xfrm>
            <a:off x="8096250" y="3000375"/>
            <a:ext cx="3048000" cy="9525"/>
          </a:xfrm>
          <a:prstGeom prst="rect">
            <a:avLst/>
          </a:prstGeom>
          <a:solidFill>
            <a:srgbClr val="D9E4EC"/>
          </a:solidFill>
          <a:ln w="0">
            <a:noFill/>
            <a:prstDash val="solid"/>
          </a:ln>
        </p:spPr>
        <p:txBody>
          <a:bodyPr/>
          <a:lstStyle/>
          <a:p>
            <a:endParaRPr lang="en-US"/>
          </a:p>
        </p:txBody>
      </p:sp>
      <p:sp>
        <p:nvSpPr>
          <p:cNvPr id="9" name="Rectangle 8">
            <a:extLst>
              <a:ext uri="{FF2B5EF4-FFF2-40B4-BE49-F238E27FC236}">
                <a16:creationId xmlns:a16="http://schemas.microsoft.com/office/drawing/2014/main" id="{E39C86ED-6B1F-4AE4-9D10-00A3AAF882DE}"/>
              </a:ext>
            </a:extLst>
          </p:cNvPr>
          <p:cNvSpPr>
            <a:spLocks noGrp="1"/>
          </p:cNvSpPr>
          <p:nvPr/>
        </p:nvSpPr>
        <p:spPr>
          <a:xfrm>
            <a:off x="8096250" y="3257550"/>
            <a:ext cx="1381125" cy="266700"/>
          </a:xfrm>
          <a:prstGeom prst="rect">
            <a:avLst/>
          </a:prstGeom>
          <a:noFill/>
          <a:ln w="0">
            <a:noFill/>
            <a:prstDash val="solid"/>
          </a:ln>
        </p:spPr>
        <p:txBody>
          <a:bodyPr lIns="0" tIns="0" rIns="0" bIns="0" anchor="t">
            <a:normAutofit/>
          </a:bodyPr>
          <a:lstStyle>
            <a:defPPr algn="l">
              <a:defRPr sz="1275" b="1">
                <a:solidFill>
                  <a:srgbClr val="19A79B"/>
                </a:solidFill>
                <a:latin typeface="Segoe UI"/>
                <a:ea typeface="Segoe UI"/>
                <a:cs typeface="Segoe UI"/>
              </a:defRPr>
            </a:defPPr>
          </a:lstStyle>
          <a:p>
            <a:pPr algn="l">
              <a:defRPr sz="1275" b="1">
                <a:solidFill>
                  <a:srgbClr val="19A79B"/>
                </a:solidFill>
                <a:latin typeface="Segoe UI"/>
                <a:ea typeface="Segoe UI"/>
                <a:cs typeface="Segoe UI"/>
              </a:defRPr>
            </a:pPr>
            <a:r>
              <a:rPr sz="1275" b="1">
                <a:solidFill>
                  <a:srgbClr val="19A79B"/>
                </a:solidFill>
                <a:latin typeface="Segoe UI"/>
                <a:ea typeface="Segoe UI"/>
                <a:cs typeface="Segoe UI"/>
              </a:rPr>
              <a:t>Ambulatory</a:t>
            </a:r>
          </a:p>
        </p:txBody>
      </p:sp>
      <p:sp>
        <p:nvSpPr>
          <p:cNvPr id="10" name="Rectangle 9">
            <a:extLst>
              <a:ext uri="{FF2B5EF4-FFF2-40B4-BE49-F238E27FC236}">
                <a16:creationId xmlns:a16="http://schemas.microsoft.com/office/drawing/2014/main" id="{3520E0E0-F2E2-4C6C-A115-1002CB951F40}"/>
              </a:ext>
            </a:extLst>
          </p:cNvPr>
          <p:cNvSpPr>
            <a:spLocks noGrp="1"/>
          </p:cNvSpPr>
          <p:nvPr/>
        </p:nvSpPr>
        <p:spPr>
          <a:xfrm>
            <a:off x="8096250" y="3571875"/>
            <a:ext cx="2762250" cy="666750"/>
          </a:xfrm>
          <a:prstGeom prst="rect">
            <a:avLst/>
          </a:prstGeom>
          <a:noFill/>
          <a:ln w="0">
            <a:noFill/>
            <a:prstDash val="solid"/>
          </a:ln>
        </p:spPr>
        <p:txBody>
          <a:bodyPr lIns="0" tIns="0" rIns="0" bIns="0" anchor="t">
            <a:normAutofit/>
          </a:bodyPr>
          <a:lstStyle>
            <a:defPPr algn="l">
              <a:defRPr sz="1425" b="0">
                <a:solidFill>
                  <a:srgbClr val="405A70"/>
                </a:solidFill>
                <a:latin typeface="Segoe UI"/>
                <a:ea typeface="Segoe UI"/>
                <a:cs typeface="Segoe UI"/>
              </a:defRPr>
            </a:defPPr>
          </a:lstStyle>
          <a:p>
            <a:pPr algn="l">
              <a:defRPr sz="1425" b="0">
                <a:solidFill>
                  <a:srgbClr val="405A70"/>
                </a:solidFill>
                <a:latin typeface="Segoe UI"/>
                <a:ea typeface="Segoe UI"/>
                <a:cs typeface="Segoe UI"/>
              </a:defRPr>
            </a:pPr>
            <a:r>
              <a:rPr sz="1425" b="0">
                <a:solidFill>
                  <a:srgbClr val="405A70"/>
                </a:solidFill>
                <a:latin typeface="Segoe UI"/>
                <a:ea typeface="Segoe UI"/>
                <a:cs typeface="Segoe UI"/>
              </a:rPr>
              <a:t>20,124 encounters</a:t>
            </a:r>
          </a:p>
          <a:p>
            <a:pPr algn="l">
              <a:defRPr sz="1425" b="0">
                <a:solidFill>
                  <a:srgbClr val="405A70"/>
                </a:solidFill>
                <a:latin typeface="Segoe UI"/>
                <a:ea typeface="Segoe UI"/>
                <a:cs typeface="Segoe UI"/>
              </a:defRPr>
            </a:pPr>
            <a:r>
              <a:rPr sz="1425" b="0">
                <a:solidFill>
                  <a:srgbClr val="405A70"/>
                </a:solidFill>
                <a:latin typeface="Segoe UI"/>
                <a:ea typeface="Segoe UI"/>
                <a:cs typeface="Segoe UI"/>
              </a:rPr>
              <a:t>$6,524 average cost</a:t>
            </a:r>
          </a:p>
        </p:txBody>
      </p:sp>
      <p:sp>
        <p:nvSpPr>
          <p:cNvPr id="11" name="Rectangle 10">
            <a:extLst>
              <a:ext uri="{FF2B5EF4-FFF2-40B4-BE49-F238E27FC236}">
                <a16:creationId xmlns:a16="http://schemas.microsoft.com/office/drawing/2014/main" id="{639B37B6-9401-4342-AE5D-FD8E06D4977A}"/>
              </a:ext>
            </a:extLst>
          </p:cNvPr>
          <p:cNvSpPr>
            <a:spLocks noGrp="1"/>
          </p:cNvSpPr>
          <p:nvPr/>
        </p:nvSpPr>
        <p:spPr>
          <a:xfrm>
            <a:off x="8096250" y="4429125"/>
            <a:ext cx="1381125" cy="266700"/>
          </a:xfrm>
          <a:prstGeom prst="rect">
            <a:avLst/>
          </a:prstGeom>
          <a:noFill/>
          <a:ln w="0">
            <a:noFill/>
            <a:prstDash val="solid"/>
          </a:ln>
        </p:spPr>
        <p:txBody>
          <a:bodyPr lIns="0" tIns="0" rIns="0" bIns="0" anchor="t">
            <a:normAutofit/>
          </a:bodyPr>
          <a:lstStyle>
            <a:defPPr algn="l">
              <a:defRPr sz="1275" b="1">
                <a:solidFill>
                  <a:srgbClr val="168AF4"/>
                </a:solidFill>
                <a:latin typeface="Segoe UI"/>
                <a:ea typeface="Segoe UI"/>
                <a:cs typeface="Segoe UI"/>
              </a:defRPr>
            </a:defPPr>
          </a:lstStyle>
          <a:p>
            <a:pPr algn="l">
              <a:defRPr sz="1275" b="1">
                <a:solidFill>
                  <a:srgbClr val="168AF4"/>
                </a:solidFill>
                <a:latin typeface="Segoe UI"/>
                <a:ea typeface="Segoe UI"/>
                <a:cs typeface="Segoe UI"/>
              </a:defRPr>
            </a:pPr>
            <a:r>
              <a:rPr sz="1275" b="1">
                <a:solidFill>
                  <a:srgbClr val="168AF4"/>
                </a:solidFill>
                <a:latin typeface="Segoe UI"/>
                <a:ea typeface="Segoe UI"/>
                <a:cs typeface="Segoe UI"/>
              </a:rPr>
              <a:t>Wellness</a:t>
            </a:r>
          </a:p>
        </p:txBody>
      </p:sp>
      <p:sp>
        <p:nvSpPr>
          <p:cNvPr id="12" name="Rectangle 11">
            <a:extLst>
              <a:ext uri="{FF2B5EF4-FFF2-40B4-BE49-F238E27FC236}">
                <a16:creationId xmlns:a16="http://schemas.microsoft.com/office/drawing/2014/main" id="{14BA162A-3C2B-452E-8C01-ADB294A2478B}"/>
              </a:ext>
            </a:extLst>
          </p:cNvPr>
          <p:cNvSpPr>
            <a:spLocks noGrp="1"/>
          </p:cNvSpPr>
          <p:nvPr/>
        </p:nvSpPr>
        <p:spPr>
          <a:xfrm>
            <a:off x="8096250" y="4743450"/>
            <a:ext cx="2762250" cy="666750"/>
          </a:xfrm>
          <a:prstGeom prst="rect">
            <a:avLst/>
          </a:prstGeom>
          <a:noFill/>
          <a:ln w="0">
            <a:noFill/>
            <a:prstDash val="solid"/>
          </a:ln>
        </p:spPr>
        <p:txBody>
          <a:bodyPr lIns="0" tIns="0" rIns="0" bIns="0" anchor="t">
            <a:normAutofit/>
          </a:bodyPr>
          <a:lstStyle>
            <a:defPPr algn="l">
              <a:defRPr sz="1425" b="0">
                <a:solidFill>
                  <a:srgbClr val="405A70"/>
                </a:solidFill>
                <a:latin typeface="Segoe UI"/>
                <a:ea typeface="Segoe UI"/>
                <a:cs typeface="Segoe UI"/>
              </a:defRPr>
            </a:defPPr>
          </a:lstStyle>
          <a:p>
            <a:pPr algn="l">
              <a:defRPr sz="1425" b="0">
                <a:solidFill>
                  <a:srgbClr val="405A70"/>
                </a:solidFill>
                <a:latin typeface="Segoe UI"/>
                <a:ea typeface="Segoe UI"/>
                <a:cs typeface="Segoe UI"/>
              </a:defRPr>
            </a:pPr>
            <a:r>
              <a:rPr sz="1425" b="0">
                <a:solidFill>
                  <a:srgbClr val="405A70"/>
                </a:solidFill>
                <a:latin typeface="Segoe UI"/>
                <a:ea typeface="Segoe UI"/>
                <a:cs typeface="Segoe UI"/>
              </a:rPr>
              <a:t>24,038 encounters</a:t>
            </a:r>
          </a:p>
          <a:p>
            <a:pPr algn="l">
              <a:defRPr sz="1425" b="0">
                <a:solidFill>
                  <a:srgbClr val="405A70"/>
                </a:solidFill>
                <a:latin typeface="Segoe UI"/>
                <a:ea typeface="Segoe UI"/>
                <a:cs typeface="Segoe UI"/>
              </a:defRPr>
            </a:pPr>
            <a:r>
              <a:rPr sz="1425" b="0">
                <a:solidFill>
                  <a:srgbClr val="405A70"/>
                </a:solidFill>
                <a:latin typeface="Segoe UI"/>
                <a:ea typeface="Segoe UI"/>
                <a:cs typeface="Segoe UI"/>
              </a:rPr>
              <a:t>$1,909 average cost</a:t>
            </a:r>
          </a:p>
        </p:txBody>
      </p:sp>
      <p:sp>
        <p:nvSpPr>
          <p:cNvPr id="13" name="Rectangle 12">
            <a:extLst>
              <a:ext uri="{FF2B5EF4-FFF2-40B4-BE49-F238E27FC236}">
                <a16:creationId xmlns:a16="http://schemas.microsoft.com/office/drawing/2014/main" id="{3FA2A5E5-5698-405B-B1DF-26F32E7100F0}"/>
              </a:ext>
            </a:extLst>
          </p:cNvPr>
          <p:cNvSpPr>
            <a:spLocks noGrp="1"/>
          </p:cNvSpPr>
          <p:nvPr/>
        </p:nvSpPr>
        <p:spPr>
          <a:xfrm>
            <a:off x="8096250" y="5619750"/>
            <a:ext cx="3143250" cy="571500"/>
          </a:xfrm>
          <a:prstGeom prst="rect">
            <a:avLst/>
          </a:prstGeom>
          <a:noFill/>
          <a:ln w="0">
            <a:noFill/>
            <a:prstDash val="solid"/>
          </a:ln>
        </p:spPr>
        <p:txBody>
          <a:bodyPr lIns="0" tIns="0" rIns="0" bIns="0" anchor="t">
            <a:normAutofit/>
          </a:bodyPr>
          <a:lstStyle>
            <a:defPPr algn="l">
              <a:defRPr sz="1050" b="0">
                <a:solidFill>
                  <a:srgbClr val="6F8598"/>
                </a:solidFill>
                <a:latin typeface="Segoe UI"/>
                <a:ea typeface="Segoe UI"/>
                <a:cs typeface="Segoe UI"/>
              </a:defRPr>
            </a:defPPr>
          </a:lstStyle>
          <a:p>
            <a:pPr algn="l">
              <a:defRPr sz="1050" b="0">
                <a:solidFill>
                  <a:srgbClr val="6F8598"/>
                </a:solidFill>
                <a:latin typeface="Segoe UI"/>
                <a:ea typeface="Segoe UI"/>
                <a:cs typeface="Segoe UI"/>
              </a:defRPr>
            </a:pPr>
            <a:r>
              <a:rPr sz="1050" b="0">
                <a:solidFill>
                  <a:srgbClr val="6F8598"/>
                </a:solidFill>
                <a:latin typeface="Segoe UI"/>
                <a:ea typeface="Segoe UI"/>
                <a:cs typeface="Segoe UI"/>
              </a:rPr>
              <a:t>Pregnancy-linked ambulatory encounters represented approximately $27M in claim cost.</a:t>
            </a:r>
          </a:p>
        </p:txBody>
      </p:sp>
      <p:sp>
        <p:nvSpPr>
          <p:cNvPr id="14" name="Rectangle 13">
            <a:extLst>
              <a:ext uri="{FF2B5EF4-FFF2-40B4-BE49-F238E27FC236}">
                <a16:creationId xmlns:a16="http://schemas.microsoft.com/office/drawing/2014/main" id="{6A7AA735-3624-4588-8931-F6FFF6071FC4}"/>
              </a:ext>
            </a:extLst>
          </p:cNvPr>
          <p:cNvSpPr>
            <a:spLocks noGrp="1"/>
          </p:cNvSpPr>
          <p:nvPr/>
        </p:nvSpPr>
        <p:spPr>
          <a:xfrm>
            <a:off x="609600" y="6543675"/>
            <a:ext cx="10972800" cy="9525"/>
          </a:xfrm>
          <a:prstGeom prst="rect">
            <a:avLst/>
          </a:prstGeom>
          <a:solidFill>
            <a:srgbClr val="D9E4EC"/>
          </a:solidFill>
          <a:ln w="0">
            <a:noFill/>
            <a:prstDash val="solid"/>
          </a:ln>
        </p:spPr>
        <p:txBody>
          <a:bodyPr/>
          <a:lstStyle/>
          <a:p>
            <a:endParaRPr lang="en-US"/>
          </a:p>
        </p:txBody>
      </p:sp>
      <p:sp>
        <p:nvSpPr>
          <p:cNvPr id="15" name="Rectangle 14">
            <a:extLst>
              <a:ext uri="{FF2B5EF4-FFF2-40B4-BE49-F238E27FC236}">
                <a16:creationId xmlns:a16="http://schemas.microsoft.com/office/drawing/2014/main" id="{D597D606-871D-4AD5-B565-202D7958D1CE}"/>
              </a:ext>
            </a:extLst>
          </p:cNvPr>
          <p:cNvSpPr>
            <a:spLocks noGrp="1"/>
          </p:cNvSpPr>
          <p:nvPr/>
        </p:nvSpPr>
        <p:spPr>
          <a:xfrm>
            <a:off x="609600" y="6600825"/>
            <a:ext cx="6953250" cy="171450"/>
          </a:xfrm>
          <a:prstGeom prst="rect">
            <a:avLst/>
          </a:prstGeom>
          <a:noFill/>
          <a:ln w="0">
            <a:noFill/>
            <a:prstDash val="solid"/>
          </a:ln>
        </p:spPr>
        <p:txBody>
          <a:bodyPr lIns="0" tIns="0" rIns="0" bIns="0" anchor="t">
            <a:normAutofit/>
          </a:bodyPr>
          <a:lstStyle>
            <a:defPPr algn="l">
              <a:defRPr sz="750" b="0">
                <a:solidFill>
                  <a:srgbClr val="6F8598"/>
                </a:solidFill>
                <a:latin typeface="Segoe UI"/>
                <a:ea typeface="Segoe UI"/>
                <a:cs typeface="Segoe UI"/>
              </a:defRPr>
            </a:defPPr>
          </a:lstStyle>
          <a:p>
            <a:pPr algn="l">
              <a:defRPr sz="750" b="0">
                <a:solidFill>
                  <a:srgbClr val="6F8598"/>
                </a:solidFill>
                <a:latin typeface="Segoe UI"/>
                <a:ea typeface="Segoe UI"/>
                <a:cs typeface="Segoe UI"/>
              </a:defRPr>
            </a:pPr>
            <a:r>
              <a:rPr sz="750" b="0">
                <a:solidFill>
                  <a:srgbClr val="6F8598"/>
                </a:solidFill>
                <a:latin typeface="Segoe UI"/>
                <a:ea typeface="Segoe UI"/>
                <a:cs typeface="Segoe UI"/>
              </a:rPr>
              <a:t>Synthetic healthcare data generated by Synthea</a:t>
            </a:r>
          </a:p>
        </p:txBody>
      </p:sp>
    </p:spTree>
    <p:extLst>
      <p:ext uri="{BB962C8B-B14F-4D97-AF65-F5344CB8AC3E}">
        <p14:creationId xmlns:p14="http://schemas.microsoft.com/office/powerpoint/2010/main" val="14323568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9" name="Rectangle 18">
            <a:extLst>
              <a:ext uri="{FF2B5EF4-FFF2-40B4-BE49-F238E27FC236}">
                <a16:creationId xmlns:a16="http://schemas.microsoft.com/office/drawing/2014/main" id="{A0EFE0A2-1D87-449B-83B2-95C95FD9DBA7}"/>
              </a:ext>
            </a:extLst>
          </p:cNvPr>
          <p:cNvSpPr>
            <a:spLocks noGrp="1"/>
          </p:cNvSpPr>
          <p:nvPr/>
        </p:nvSpPr>
        <p:spPr>
          <a:xfrm>
            <a:off x="0" y="0"/>
            <a:ext cx="12192000" cy="76200"/>
          </a:xfrm>
          <a:prstGeom prst="rect">
            <a:avLst/>
          </a:prstGeom>
          <a:solidFill>
            <a:srgbClr val="114873"/>
          </a:solidFill>
          <a:ln w="0">
            <a:noFill/>
            <a:prstDash val="solid"/>
          </a:ln>
        </p:spPr>
        <p:txBody>
          <a:bodyPr/>
          <a:lstStyle/>
          <a:p>
            <a:endParaRPr lang="en-US"/>
          </a:p>
        </p:txBody>
      </p:sp>
      <p:sp>
        <p:nvSpPr>
          <p:cNvPr id="2" name="Rectangle 1">
            <a:extLst>
              <a:ext uri="{FF2B5EF4-FFF2-40B4-BE49-F238E27FC236}">
                <a16:creationId xmlns:a16="http://schemas.microsoft.com/office/drawing/2014/main" id="{C0687965-98F8-4D9B-BF54-925AF19F3B4B}"/>
              </a:ext>
            </a:extLst>
          </p:cNvPr>
          <p:cNvSpPr>
            <a:spLocks noGrp="1"/>
          </p:cNvSpPr>
          <p:nvPr/>
        </p:nvSpPr>
        <p:spPr>
          <a:xfrm>
            <a:off x="609600" y="285750"/>
            <a:ext cx="9906000" cy="495300"/>
          </a:xfrm>
          <a:prstGeom prst="rect">
            <a:avLst/>
          </a:prstGeom>
          <a:noFill/>
          <a:ln w="0">
            <a:noFill/>
            <a:prstDash val="solid"/>
          </a:ln>
        </p:spPr>
        <p:txBody>
          <a:bodyPr lIns="0" tIns="0" rIns="0" bIns="0" anchor="ctr">
            <a:normAutofit/>
          </a:bodyPr>
          <a:lstStyle>
            <a:defPPr algn="l">
              <a:defRPr sz="2550" b="1">
                <a:solidFill>
                  <a:srgbClr val="114873"/>
                </a:solidFill>
                <a:latin typeface="Segoe UI"/>
                <a:ea typeface="Segoe UI"/>
                <a:cs typeface="Segoe UI"/>
              </a:defRPr>
            </a:defPPr>
          </a:lstStyle>
          <a:p>
            <a:pPr algn="l">
              <a:defRPr sz="2550" b="1">
                <a:solidFill>
                  <a:srgbClr val="114873"/>
                </a:solidFill>
                <a:latin typeface="Segoe UI"/>
                <a:ea typeface="Segoe UI"/>
                <a:cs typeface="Segoe UI"/>
              </a:defRPr>
            </a:pPr>
            <a:r>
              <a:rPr sz="2550" b="1">
                <a:solidFill>
                  <a:srgbClr val="114873"/>
                </a:solidFill>
                <a:latin typeface="Segoe UI"/>
                <a:ea typeface="Segoe UI"/>
                <a:cs typeface="Segoe UI"/>
              </a:rPr>
              <a:t>Patient growth and higher visit frequency increased utilization</a:t>
            </a:r>
          </a:p>
        </p:txBody>
      </p:sp>
      <p:sp>
        <p:nvSpPr>
          <p:cNvPr id="3" name="Rectangle 2">
            <a:extLst>
              <a:ext uri="{FF2B5EF4-FFF2-40B4-BE49-F238E27FC236}">
                <a16:creationId xmlns:a16="http://schemas.microsoft.com/office/drawing/2014/main" id="{4AAEDBEB-E8A2-4DC7-A271-CAB3506969D9}"/>
              </a:ext>
            </a:extLst>
          </p:cNvPr>
          <p:cNvSpPr>
            <a:spLocks noGrp="1"/>
          </p:cNvSpPr>
          <p:nvPr/>
        </p:nvSpPr>
        <p:spPr>
          <a:xfrm>
            <a:off x="628650" y="781050"/>
            <a:ext cx="10287000" cy="304800"/>
          </a:xfrm>
          <a:prstGeom prst="rect">
            <a:avLst/>
          </a:prstGeom>
          <a:noFill/>
          <a:ln w="0">
            <a:noFill/>
            <a:prstDash val="solid"/>
          </a:ln>
        </p:spPr>
        <p:txBody>
          <a:bodyPr lIns="0" tIns="0" rIns="0" bIns="0" anchor="ctr">
            <a:normAutofit/>
          </a:bodyPr>
          <a:lstStyle>
            <a:defPPr algn="l">
              <a:defRPr sz="1200" b="0">
                <a:solidFill>
                  <a:srgbClr val="6F8598"/>
                </a:solidFill>
                <a:latin typeface="Segoe UI"/>
                <a:ea typeface="Segoe UI"/>
                <a:cs typeface="Segoe UI"/>
              </a:defRPr>
            </a:defPPr>
          </a:lstStyle>
          <a:p>
            <a:pPr algn="l">
              <a:defRPr sz="1200" b="0">
                <a:solidFill>
                  <a:srgbClr val="6F8598"/>
                </a:solidFill>
                <a:latin typeface="Segoe UI"/>
                <a:ea typeface="Segoe UI"/>
                <a:cs typeface="Segoe UI"/>
              </a:defRPr>
            </a:pPr>
            <a:r>
              <a:rPr sz="1200" b="0">
                <a:solidFill>
                  <a:srgbClr val="6F8598"/>
                </a:solidFill>
                <a:latin typeface="Segoe UI"/>
                <a:ea typeface="Segoe UI"/>
                <a:cs typeface="Segoe UI"/>
              </a:rPr>
              <a:t>Active-patient counts rose while encounters per patient stabilized above earlier levels</a:t>
            </a:r>
          </a:p>
        </p:txBody>
      </p:sp>
      <p:sp>
        <p:nvSpPr>
          <p:cNvPr id="4" name="Rectangle 3">
            <a:extLst>
              <a:ext uri="{FF2B5EF4-FFF2-40B4-BE49-F238E27FC236}">
                <a16:creationId xmlns:a16="http://schemas.microsoft.com/office/drawing/2014/main" id="{8C68050C-E5D2-4326-8D1C-84A319A9142E}"/>
              </a:ext>
            </a:extLst>
          </p:cNvPr>
          <p:cNvSpPr>
            <a:spLocks noGrp="1"/>
          </p:cNvSpPr>
          <p:nvPr/>
        </p:nvSpPr>
        <p:spPr>
          <a:xfrm>
            <a:off x="11144250" y="361950"/>
            <a:ext cx="457200" cy="285750"/>
          </a:xfrm>
          <a:prstGeom prst="rect">
            <a:avLst/>
          </a:prstGeom>
          <a:noFill/>
          <a:ln w="0">
            <a:noFill/>
            <a:prstDash val="solid"/>
          </a:ln>
        </p:spPr>
        <p:txBody>
          <a:bodyPr lIns="0" tIns="0" rIns="0" bIns="0" anchor="t">
            <a:normAutofit/>
          </a:bodyPr>
          <a:lstStyle>
            <a:defPPr algn="r">
              <a:defRPr sz="1050" b="1">
                <a:solidFill>
                  <a:srgbClr val="6F8598"/>
                </a:solidFill>
                <a:latin typeface="Segoe UI"/>
                <a:ea typeface="Segoe UI"/>
                <a:cs typeface="Segoe UI"/>
              </a:defRPr>
            </a:defPPr>
          </a:lstStyle>
          <a:p>
            <a:pPr algn="r">
              <a:defRPr sz="1050" b="1">
                <a:solidFill>
                  <a:srgbClr val="6F8598"/>
                </a:solidFill>
                <a:latin typeface="Segoe UI"/>
                <a:ea typeface="Segoe UI"/>
                <a:cs typeface="Segoe UI"/>
              </a:defRPr>
            </a:pPr>
            <a:r>
              <a:rPr sz="1050" b="1">
                <a:solidFill>
                  <a:srgbClr val="6F8598"/>
                </a:solidFill>
                <a:latin typeface="Segoe UI"/>
                <a:ea typeface="Segoe UI"/>
                <a:cs typeface="Segoe UI"/>
              </a:rPr>
              <a:t>07</a:t>
            </a:r>
          </a:p>
        </p:txBody>
      </p:sp>
      <p:graphicFrame>
        <p:nvGraphicFramePr>
          <p:cNvPr id="5" name="Chart">
            <a:extLst>
              <a:ext uri="{FF2B5EF4-FFF2-40B4-BE49-F238E27FC236}">
                <a16:creationId xmlns:a16="http://schemas.microsoft.com/office/drawing/2014/main" id="{78E120AE-E34E-4BF1-AE65-3FF30D3E8D72}"/>
              </a:ext>
            </a:extLst>
          </p:cNvPr>
          <p:cNvGraphicFramePr/>
          <p:nvPr/>
        </p:nvGraphicFramePr>
        <p:xfrm>
          <a:off x="666750" y="1571625"/>
          <a:ext cx="7239000" cy="4095750"/>
        </p:xfrm>
        <a:graphic>
          <a:graphicData uri="http://schemas.openxmlformats.org/drawingml/2006/chart">
            <c:chart xmlns:c="http://schemas.openxmlformats.org/drawingml/2006/chart" xmlns:r="http://schemas.openxmlformats.org/officeDocument/2006/relationships" r:id="rId3"/>
          </a:graphicData>
        </a:graphic>
      </p:graphicFrame>
      <p:sp>
        <p:nvSpPr>
          <p:cNvPr id="6" name="Rectangle 5">
            <a:extLst>
              <a:ext uri="{FF2B5EF4-FFF2-40B4-BE49-F238E27FC236}">
                <a16:creationId xmlns:a16="http://schemas.microsoft.com/office/drawing/2014/main" id="{030D1E9C-3FF6-4046-8607-55A10372BA41}"/>
              </a:ext>
            </a:extLst>
          </p:cNvPr>
          <p:cNvSpPr>
            <a:spLocks noGrp="1"/>
          </p:cNvSpPr>
          <p:nvPr/>
        </p:nvSpPr>
        <p:spPr>
          <a:xfrm>
            <a:off x="8429625" y="1619250"/>
            <a:ext cx="2381250" cy="647700"/>
          </a:xfrm>
          <a:prstGeom prst="rect">
            <a:avLst/>
          </a:prstGeom>
          <a:noFill/>
          <a:ln w="0">
            <a:noFill/>
            <a:prstDash val="solid"/>
          </a:ln>
        </p:spPr>
        <p:txBody>
          <a:bodyPr lIns="0" tIns="0" rIns="0" bIns="0" anchor="t">
            <a:normAutofit/>
          </a:bodyPr>
          <a:lstStyle>
            <a:defPPr algn="l">
              <a:defRPr sz="3900" b="1">
                <a:solidFill>
                  <a:srgbClr val="168AF4"/>
                </a:solidFill>
                <a:latin typeface="Segoe UI"/>
                <a:ea typeface="Segoe UI"/>
                <a:cs typeface="Segoe UI"/>
              </a:defRPr>
            </a:defPPr>
          </a:lstStyle>
          <a:p>
            <a:pPr algn="l">
              <a:defRPr sz="3900" b="1">
                <a:solidFill>
                  <a:srgbClr val="168AF4"/>
                </a:solidFill>
                <a:latin typeface="Segoe UI"/>
                <a:ea typeface="Segoe UI"/>
                <a:cs typeface="Segoe UI"/>
              </a:defRPr>
            </a:pPr>
            <a:r>
              <a:rPr sz="3900" b="1">
                <a:solidFill>
                  <a:srgbClr val="168AF4"/>
                </a:solidFill>
                <a:latin typeface="Segoe UI"/>
                <a:ea typeface="Segoe UI"/>
                <a:cs typeface="Segoe UI"/>
              </a:rPr>
              <a:t>+84%</a:t>
            </a:r>
          </a:p>
        </p:txBody>
      </p:sp>
      <p:sp>
        <p:nvSpPr>
          <p:cNvPr id="7" name="Rectangle 6">
            <a:extLst>
              <a:ext uri="{FF2B5EF4-FFF2-40B4-BE49-F238E27FC236}">
                <a16:creationId xmlns:a16="http://schemas.microsoft.com/office/drawing/2014/main" id="{66D9CAEE-DF0E-49EE-8873-27687F6E2D40}"/>
              </a:ext>
            </a:extLst>
          </p:cNvPr>
          <p:cNvSpPr>
            <a:spLocks noGrp="1"/>
          </p:cNvSpPr>
          <p:nvPr/>
        </p:nvSpPr>
        <p:spPr>
          <a:xfrm>
            <a:off x="8429625" y="2238375"/>
            <a:ext cx="2762250" cy="571500"/>
          </a:xfrm>
          <a:prstGeom prst="rect">
            <a:avLst/>
          </a:prstGeom>
          <a:noFill/>
          <a:ln w="0">
            <a:noFill/>
            <a:prstDash val="solid"/>
          </a:ln>
        </p:spPr>
        <p:txBody>
          <a:bodyPr lIns="0" tIns="0" rIns="0" bIns="0" anchor="t">
            <a:normAutofit/>
          </a:bodyPr>
          <a:lstStyle>
            <a:defPPr algn="l">
              <a:defRPr sz="1425" b="1">
                <a:solidFill>
                  <a:srgbClr val="114873"/>
                </a:solidFill>
                <a:latin typeface="Segoe UI"/>
                <a:ea typeface="Segoe UI"/>
                <a:cs typeface="Segoe UI"/>
              </a:defRPr>
            </a:defPPr>
          </a:lstStyle>
          <a:p>
            <a:pPr algn="l">
              <a:defRPr sz="1425" b="1">
                <a:solidFill>
                  <a:srgbClr val="114873"/>
                </a:solidFill>
                <a:latin typeface="Segoe UI"/>
                <a:ea typeface="Segoe UI"/>
                <a:cs typeface="Segoe UI"/>
              </a:defRPr>
            </a:pPr>
            <a:r>
              <a:rPr sz="1425" b="1">
                <a:solidFill>
                  <a:srgbClr val="114873"/>
                </a:solidFill>
                <a:latin typeface="Segoe UI"/>
                <a:ea typeface="Segoe UI"/>
                <a:cs typeface="Segoe UI"/>
              </a:rPr>
              <a:t>active patients from 2010 to 2021</a:t>
            </a:r>
          </a:p>
        </p:txBody>
      </p:sp>
      <p:sp>
        <p:nvSpPr>
          <p:cNvPr id="8" name="Rectangle 7">
            <a:extLst>
              <a:ext uri="{FF2B5EF4-FFF2-40B4-BE49-F238E27FC236}">
                <a16:creationId xmlns:a16="http://schemas.microsoft.com/office/drawing/2014/main" id="{650599D5-1393-46CC-A707-CCE779E98271}"/>
              </a:ext>
            </a:extLst>
          </p:cNvPr>
          <p:cNvSpPr>
            <a:spLocks noGrp="1"/>
          </p:cNvSpPr>
          <p:nvPr/>
        </p:nvSpPr>
        <p:spPr>
          <a:xfrm>
            <a:off x="8429625" y="3048000"/>
            <a:ext cx="2952750" cy="9525"/>
          </a:xfrm>
          <a:prstGeom prst="rect">
            <a:avLst/>
          </a:prstGeom>
          <a:solidFill>
            <a:srgbClr val="D9E4EC"/>
          </a:solidFill>
          <a:ln w="0">
            <a:noFill/>
            <a:prstDash val="solid"/>
          </a:ln>
        </p:spPr>
        <p:txBody>
          <a:bodyPr/>
          <a:lstStyle/>
          <a:p>
            <a:endParaRPr lang="en-US"/>
          </a:p>
        </p:txBody>
      </p:sp>
      <p:sp>
        <p:nvSpPr>
          <p:cNvPr id="9" name="Rectangle 8">
            <a:extLst>
              <a:ext uri="{FF2B5EF4-FFF2-40B4-BE49-F238E27FC236}">
                <a16:creationId xmlns:a16="http://schemas.microsoft.com/office/drawing/2014/main" id="{F68BCF2D-B684-45AC-A121-12D48D1388FD}"/>
              </a:ext>
            </a:extLst>
          </p:cNvPr>
          <p:cNvSpPr>
            <a:spLocks noGrp="1"/>
          </p:cNvSpPr>
          <p:nvPr/>
        </p:nvSpPr>
        <p:spPr>
          <a:xfrm>
            <a:off x="8429625" y="3333750"/>
            <a:ext cx="2857500" cy="323850"/>
          </a:xfrm>
          <a:prstGeom prst="rect">
            <a:avLst/>
          </a:prstGeom>
          <a:noFill/>
          <a:ln w="0">
            <a:noFill/>
            <a:prstDash val="solid"/>
          </a:ln>
        </p:spPr>
        <p:txBody>
          <a:bodyPr lIns="0" tIns="0" rIns="0" bIns="0" anchor="t">
            <a:normAutofit/>
          </a:bodyPr>
          <a:lstStyle>
            <a:defPPr algn="l">
              <a:defRPr sz="1500" b="1">
                <a:solidFill>
                  <a:srgbClr val="114873"/>
                </a:solidFill>
                <a:latin typeface="Segoe UI"/>
                <a:ea typeface="Segoe UI"/>
                <a:cs typeface="Segoe UI"/>
              </a:defRPr>
            </a:defPPr>
          </a:lstStyle>
          <a:p>
            <a:pPr algn="l">
              <a:defRPr sz="1500" b="1">
                <a:solidFill>
                  <a:srgbClr val="114873"/>
                </a:solidFill>
                <a:latin typeface="Segoe UI"/>
                <a:ea typeface="Segoe UI"/>
                <a:cs typeface="Segoe UI"/>
              </a:defRPr>
            </a:pPr>
            <a:r>
              <a:rPr sz="1500" b="1">
                <a:solidFill>
                  <a:srgbClr val="114873"/>
                </a:solidFill>
                <a:latin typeface="Segoe UI"/>
                <a:ea typeface="Segoe UI"/>
                <a:cs typeface="Segoe UI"/>
              </a:rPr>
              <a:t>Encounters per active patient</a:t>
            </a:r>
          </a:p>
        </p:txBody>
      </p:sp>
      <p:sp>
        <p:nvSpPr>
          <p:cNvPr id="10" name="Rectangle 9">
            <a:extLst>
              <a:ext uri="{FF2B5EF4-FFF2-40B4-BE49-F238E27FC236}">
                <a16:creationId xmlns:a16="http://schemas.microsoft.com/office/drawing/2014/main" id="{B01A9E37-0ACB-44EB-83D1-125E1E352E93}"/>
              </a:ext>
            </a:extLst>
          </p:cNvPr>
          <p:cNvSpPr>
            <a:spLocks noGrp="1"/>
          </p:cNvSpPr>
          <p:nvPr/>
        </p:nvSpPr>
        <p:spPr>
          <a:xfrm>
            <a:off x="8429625" y="3810000"/>
            <a:ext cx="904875" cy="400050"/>
          </a:xfrm>
          <a:prstGeom prst="rect">
            <a:avLst/>
          </a:prstGeom>
          <a:noFill/>
          <a:ln w="0">
            <a:noFill/>
            <a:prstDash val="solid"/>
          </a:ln>
        </p:spPr>
        <p:txBody>
          <a:bodyPr lIns="0" tIns="0" rIns="0" bIns="0" anchor="t">
            <a:normAutofit/>
          </a:bodyPr>
          <a:lstStyle>
            <a:defPPr algn="l">
              <a:defRPr sz="2325" b="1">
                <a:solidFill>
                  <a:srgbClr val="19A79B"/>
                </a:solidFill>
                <a:latin typeface="Segoe UI"/>
                <a:ea typeface="Segoe UI"/>
                <a:cs typeface="Segoe UI"/>
              </a:defRPr>
            </a:defPPr>
          </a:lstStyle>
          <a:p>
            <a:pPr algn="l">
              <a:defRPr sz="2325" b="1">
                <a:solidFill>
                  <a:srgbClr val="19A79B"/>
                </a:solidFill>
                <a:latin typeface="Segoe UI"/>
                <a:ea typeface="Segoe UI"/>
                <a:cs typeface="Segoe UI"/>
              </a:defRPr>
            </a:pPr>
            <a:r>
              <a:rPr sz="2325" b="1">
                <a:solidFill>
                  <a:srgbClr val="19A79B"/>
                </a:solidFill>
                <a:latin typeface="Segoe UI"/>
                <a:ea typeface="Segoe UI"/>
                <a:cs typeface="Segoe UI"/>
              </a:rPr>
              <a:t>2.04</a:t>
            </a:r>
          </a:p>
        </p:txBody>
      </p:sp>
      <p:sp>
        <p:nvSpPr>
          <p:cNvPr id="11" name="Rectangle 10">
            <a:extLst>
              <a:ext uri="{FF2B5EF4-FFF2-40B4-BE49-F238E27FC236}">
                <a16:creationId xmlns:a16="http://schemas.microsoft.com/office/drawing/2014/main" id="{9A717D06-0851-4CA6-8134-023FB600F572}"/>
              </a:ext>
            </a:extLst>
          </p:cNvPr>
          <p:cNvSpPr>
            <a:spLocks noGrp="1"/>
          </p:cNvSpPr>
          <p:nvPr/>
        </p:nvSpPr>
        <p:spPr>
          <a:xfrm>
            <a:off x="9382125" y="3924300"/>
            <a:ext cx="1143000" cy="266700"/>
          </a:xfrm>
          <a:prstGeom prst="rect">
            <a:avLst/>
          </a:prstGeom>
          <a:noFill/>
          <a:ln w="0">
            <a:noFill/>
            <a:prstDash val="solid"/>
          </a:ln>
        </p:spPr>
        <p:txBody>
          <a:bodyPr lIns="0" tIns="0" rIns="0" bIns="0" anchor="t">
            <a:normAutofit/>
          </a:bodyPr>
          <a:lstStyle>
            <a:defPPr algn="l">
              <a:defRPr sz="1200" b="0">
                <a:solidFill>
                  <a:srgbClr val="405A70"/>
                </a:solidFill>
                <a:latin typeface="Segoe UI"/>
                <a:ea typeface="Segoe UI"/>
                <a:cs typeface="Segoe UI"/>
              </a:defRPr>
            </a:defPPr>
          </a:lstStyle>
          <a:p>
            <a:pPr algn="l">
              <a:defRPr sz="1200" b="0">
                <a:solidFill>
                  <a:srgbClr val="405A70"/>
                </a:solidFill>
                <a:latin typeface="Segoe UI"/>
                <a:ea typeface="Segoe UI"/>
                <a:cs typeface="Segoe UI"/>
              </a:defRPr>
            </a:pPr>
            <a:r>
              <a:rPr sz="1200" b="0">
                <a:solidFill>
                  <a:srgbClr val="405A70"/>
                </a:solidFill>
                <a:latin typeface="Segoe UI"/>
                <a:ea typeface="Segoe UI"/>
                <a:cs typeface="Segoe UI"/>
              </a:rPr>
              <a:t>in 2004</a:t>
            </a:r>
          </a:p>
        </p:txBody>
      </p:sp>
      <p:sp>
        <p:nvSpPr>
          <p:cNvPr id="12" name="Rectangle 11">
            <a:extLst>
              <a:ext uri="{FF2B5EF4-FFF2-40B4-BE49-F238E27FC236}">
                <a16:creationId xmlns:a16="http://schemas.microsoft.com/office/drawing/2014/main" id="{E0D4B33A-827F-478D-8CB2-DEDAB7F2603E}"/>
              </a:ext>
            </a:extLst>
          </p:cNvPr>
          <p:cNvSpPr>
            <a:spLocks noGrp="1"/>
          </p:cNvSpPr>
          <p:nvPr/>
        </p:nvSpPr>
        <p:spPr>
          <a:xfrm>
            <a:off x="8429625" y="4362450"/>
            <a:ext cx="904875" cy="400050"/>
          </a:xfrm>
          <a:prstGeom prst="rect">
            <a:avLst/>
          </a:prstGeom>
          <a:noFill/>
          <a:ln w="0">
            <a:noFill/>
            <a:prstDash val="solid"/>
          </a:ln>
        </p:spPr>
        <p:txBody>
          <a:bodyPr lIns="0" tIns="0" rIns="0" bIns="0" anchor="t">
            <a:normAutofit/>
          </a:bodyPr>
          <a:lstStyle>
            <a:defPPr algn="l">
              <a:defRPr sz="2325" b="1">
                <a:solidFill>
                  <a:srgbClr val="F4A23C"/>
                </a:solidFill>
                <a:latin typeface="Segoe UI"/>
                <a:ea typeface="Segoe UI"/>
                <a:cs typeface="Segoe UI"/>
              </a:defRPr>
            </a:defPPr>
          </a:lstStyle>
          <a:p>
            <a:pPr algn="l">
              <a:defRPr sz="2325" b="1">
                <a:solidFill>
                  <a:srgbClr val="F4A23C"/>
                </a:solidFill>
                <a:latin typeface="Segoe UI"/>
                <a:ea typeface="Segoe UI"/>
                <a:cs typeface="Segoe UI"/>
              </a:defRPr>
            </a:pPr>
            <a:r>
              <a:rPr sz="2325" b="1">
                <a:solidFill>
                  <a:srgbClr val="F4A23C"/>
                </a:solidFill>
                <a:latin typeface="Segoe UI"/>
                <a:ea typeface="Segoe UI"/>
                <a:cs typeface="Segoe UI"/>
              </a:rPr>
              <a:t>5.18</a:t>
            </a:r>
          </a:p>
        </p:txBody>
      </p:sp>
      <p:sp>
        <p:nvSpPr>
          <p:cNvPr id="13" name="Rectangle 12">
            <a:extLst>
              <a:ext uri="{FF2B5EF4-FFF2-40B4-BE49-F238E27FC236}">
                <a16:creationId xmlns:a16="http://schemas.microsoft.com/office/drawing/2014/main" id="{CF28764B-37CE-4EAA-A1D4-CB0FCF33B2EC}"/>
              </a:ext>
            </a:extLst>
          </p:cNvPr>
          <p:cNvSpPr>
            <a:spLocks noGrp="1"/>
          </p:cNvSpPr>
          <p:nvPr/>
        </p:nvSpPr>
        <p:spPr>
          <a:xfrm>
            <a:off x="9382125" y="4476750"/>
            <a:ext cx="1428750" cy="266700"/>
          </a:xfrm>
          <a:prstGeom prst="rect">
            <a:avLst/>
          </a:prstGeom>
          <a:noFill/>
          <a:ln w="0">
            <a:noFill/>
            <a:prstDash val="solid"/>
          </a:ln>
        </p:spPr>
        <p:txBody>
          <a:bodyPr lIns="0" tIns="0" rIns="0" bIns="0" anchor="t">
            <a:normAutofit/>
          </a:bodyPr>
          <a:lstStyle>
            <a:defPPr algn="l">
              <a:defRPr sz="1200" b="0">
                <a:solidFill>
                  <a:srgbClr val="405A70"/>
                </a:solidFill>
                <a:latin typeface="Segoe UI"/>
                <a:ea typeface="Segoe UI"/>
                <a:cs typeface="Segoe UI"/>
              </a:defRPr>
            </a:defPPr>
          </a:lstStyle>
          <a:p>
            <a:pPr algn="l">
              <a:defRPr sz="1200" b="0">
                <a:solidFill>
                  <a:srgbClr val="405A70"/>
                </a:solidFill>
                <a:latin typeface="Segoe UI"/>
                <a:ea typeface="Segoe UI"/>
                <a:cs typeface="Segoe UI"/>
              </a:defRPr>
            </a:pPr>
            <a:r>
              <a:rPr sz="1200" b="0">
                <a:solidFill>
                  <a:srgbClr val="405A70"/>
                </a:solidFill>
                <a:latin typeface="Segoe UI"/>
                <a:ea typeface="Segoe UI"/>
                <a:cs typeface="Segoe UI"/>
              </a:rPr>
              <a:t>2014 peak</a:t>
            </a:r>
          </a:p>
        </p:txBody>
      </p:sp>
      <p:sp>
        <p:nvSpPr>
          <p:cNvPr id="14" name="Rectangle 13">
            <a:extLst>
              <a:ext uri="{FF2B5EF4-FFF2-40B4-BE49-F238E27FC236}">
                <a16:creationId xmlns:a16="http://schemas.microsoft.com/office/drawing/2014/main" id="{0466FECF-58BD-414A-AC62-1B68D263EBAB}"/>
              </a:ext>
            </a:extLst>
          </p:cNvPr>
          <p:cNvSpPr>
            <a:spLocks noGrp="1"/>
          </p:cNvSpPr>
          <p:nvPr/>
        </p:nvSpPr>
        <p:spPr>
          <a:xfrm>
            <a:off x="8429625" y="4914900"/>
            <a:ext cx="952500" cy="400050"/>
          </a:xfrm>
          <a:prstGeom prst="rect">
            <a:avLst/>
          </a:prstGeom>
          <a:noFill/>
          <a:ln w="0">
            <a:noFill/>
            <a:prstDash val="solid"/>
          </a:ln>
        </p:spPr>
        <p:txBody>
          <a:bodyPr lIns="0" tIns="0" rIns="0" bIns="0" anchor="t">
            <a:normAutofit/>
          </a:bodyPr>
          <a:lstStyle>
            <a:defPPr algn="l">
              <a:defRPr sz="2325" b="1">
                <a:solidFill>
                  <a:srgbClr val="2F80ED"/>
                </a:solidFill>
                <a:latin typeface="Segoe UI"/>
                <a:ea typeface="Segoe UI"/>
                <a:cs typeface="Segoe UI"/>
              </a:defRPr>
            </a:defPPr>
          </a:lstStyle>
          <a:p>
            <a:pPr algn="l">
              <a:defRPr sz="2325" b="1">
                <a:solidFill>
                  <a:srgbClr val="2F80ED"/>
                </a:solidFill>
                <a:latin typeface="Segoe UI"/>
                <a:ea typeface="Segoe UI"/>
                <a:cs typeface="Segoe UI"/>
              </a:defRPr>
            </a:pPr>
            <a:r>
              <a:rPr sz="2325" b="1">
                <a:solidFill>
                  <a:srgbClr val="2F80ED"/>
                </a:solidFill>
                <a:latin typeface="Segoe UI"/>
                <a:ea typeface="Segoe UI"/>
                <a:cs typeface="Segoe UI"/>
              </a:rPr>
              <a:t>≈3.4</a:t>
            </a:r>
          </a:p>
        </p:txBody>
      </p:sp>
      <p:sp>
        <p:nvSpPr>
          <p:cNvPr id="15" name="Rectangle 14">
            <a:extLst>
              <a:ext uri="{FF2B5EF4-FFF2-40B4-BE49-F238E27FC236}">
                <a16:creationId xmlns:a16="http://schemas.microsoft.com/office/drawing/2014/main" id="{4496C081-311D-43C3-9CCC-9A3D5AC9791F}"/>
              </a:ext>
            </a:extLst>
          </p:cNvPr>
          <p:cNvSpPr>
            <a:spLocks noGrp="1"/>
          </p:cNvSpPr>
          <p:nvPr/>
        </p:nvSpPr>
        <p:spPr>
          <a:xfrm>
            <a:off x="9382125" y="5029200"/>
            <a:ext cx="1905000" cy="361950"/>
          </a:xfrm>
          <a:prstGeom prst="rect">
            <a:avLst/>
          </a:prstGeom>
          <a:noFill/>
          <a:ln w="0">
            <a:noFill/>
            <a:prstDash val="solid"/>
          </a:ln>
        </p:spPr>
        <p:txBody>
          <a:bodyPr lIns="0" tIns="0" rIns="0" bIns="0" anchor="t">
            <a:normAutofit/>
          </a:bodyPr>
          <a:lstStyle>
            <a:defPPr algn="l">
              <a:defRPr sz="1200" b="0">
                <a:solidFill>
                  <a:srgbClr val="405A70"/>
                </a:solidFill>
                <a:latin typeface="Segoe UI"/>
                <a:ea typeface="Segoe UI"/>
                <a:cs typeface="Segoe UI"/>
              </a:defRPr>
            </a:defPPr>
          </a:lstStyle>
          <a:p>
            <a:pPr algn="l">
              <a:defRPr sz="1200" b="0">
                <a:solidFill>
                  <a:srgbClr val="405A70"/>
                </a:solidFill>
                <a:latin typeface="Segoe UI"/>
                <a:ea typeface="Segoe UI"/>
                <a:cs typeface="Segoe UI"/>
              </a:defRPr>
            </a:pPr>
            <a:r>
              <a:rPr sz="1200" b="0">
                <a:solidFill>
                  <a:srgbClr val="405A70"/>
                </a:solidFill>
                <a:latin typeface="Segoe UI"/>
                <a:ea typeface="Segoe UI"/>
                <a:cs typeface="Segoe UI"/>
              </a:rPr>
              <a:t>stable from 2015 onward</a:t>
            </a:r>
          </a:p>
        </p:txBody>
      </p:sp>
      <p:sp>
        <p:nvSpPr>
          <p:cNvPr id="16" name="Rectangle 15">
            <a:extLst>
              <a:ext uri="{FF2B5EF4-FFF2-40B4-BE49-F238E27FC236}">
                <a16:creationId xmlns:a16="http://schemas.microsoft.com/office/drawing/2014/main" id="{6015394F-CDC4-4211-B080-918BD68EBF5B}"/>
              </a:ext>
            </a:extLst>
          </p:cNvPr>
          <p:cNvSpPr>
            <a:spLocks noGrp="1"/>
          </p:cNvSpPr>
          <p:nvPr/>
        </p:nvSpPr>
        <p:spPr>
          <a:xfrm>
            <a:off x="8429625" y="5619750"/>
            <a:ext cx="3000375" cy="552450"/>
          </a:xfrm>
          <a:prstGeom prst="rect">
            <a:avLst/>
          </a:prstGeom>
          <a:noFill/>
          <a:ln w="0">
            <a:noFill/>
            <a:prstDash val="solid"/>
          </a:ln>
        </p:spPr>
        <p:txBody>
          <a:bodyPr lIns="0" tIns="0" rIns="0" bIns="0" anchor="t">
            <a:normAutofit/>
          </a:bodyPr>
          <a:lstStyle>
            <a:defPPr algn="l">
              <a:defRPr sz="1050" b="0">
                <a:solidFill>
                  <a:srgbClr val="6F8598"/>
                </a:solidFill>
                <a:latin typeface="Segoe UI"/>
                <a:ea typeface="Segoe UI"/>
                <a:cs typeface="Segoe UI"/>
              </a:defRPr>
            </a:defPPr>
          </a:lstStyle>
          <a:p>
            <a:pPr algn="l">
              <a:defRPr sz="1050" b="0">
                <a:solidFill>
                  <a:srgbClr val="6F8598"/>
                </a:solidFill>
                <a:latin typeface="Segoe UI"/>
                <a:ea typeface="Segoe UI"/>
                <a:cs typeface="Segoe UI"/>
              </a:defRPr>
            </a:pPr>
            <a:r>
              <a:rPr sz="1050" b="0">
                <a:solidFill>
                  <a:srgbClr val="6F8598"/>
                </a:solidFill>
                <a:latin typeface="Segoe UI"/>
                <a:ea typeface="Segoe UI"/>
                <a:cs typeface="Segoe UI"/>
              </a:rPr>
              <a:t>The 2014 peak should be treated as a synthetic-data anomaly unless another breakdown explains it.</a:t>
            </a:r>
          </a:p>
        </p:txBody>
      </p:sp>
      <p:sp>
        <p:nvSpPr>
          <p:cNvPr id="17" name="Rectangle 16">
            <a:extLst>
              <a:ext uri="{FF2B5EF4-FFF2-40B4-BE49-F238E27FC236}">
                <a16:creationId xmlns:a16="http://schemas.microsoft.com/office/drawing/2014/main" id="{7E178854-AD56-46F8-B00F-8CB3EA3E5B6C}"/>
              </a:ext>
            </a:extLst>
          </p:cNvPr>
          <p:cNvSpPr>
            <a:spLocks noGrp="1"/>
          </p:cNvSpPr>
          <p:nvPr/>
        </p:nvSpPr>
        <p:spPr>
          <a:xfrm>
            <a:off x="609600" y="6543675"/>
            <a:ext cx="10972800" cy="9525"/>
          </a:xfrm>
          <a:prstGeom prst="rect">
            <a:avLst/>
          </a:prstGeom>
          <a:solidFill>
            <a:srgbClr val="D9E4EC"/>
          </a:solidFill>
          <a:ln w="0">
            <a:noFill/>
            <a:prstDash val="solid"/>
          </a:ln>
        </p:spPr>
        <p:txBody>
          <a:bodyPr/>
          <a:lstStyle/>
          <a:p>
            <a:endParaRPr lang="en-US"/>
          </a:p>
        </p:txBody>
      </p:sp>
      <p:sp>
        <p:nvSpPr>
          <p:cNvPr id="18" name="Rectangle 17">
            <a:extLst>
              <a:ext uri="{FF2B5EF4-FFF2-40B4-BE49-F238E27FC236}">
                <a16:creationId xmlns:a16="http://schemas.microsoft.com/office/drawing/2014/main" id="{7B9BC268-6544-4911-B3E9-DB5D208395CA}"/>
              </a:ext>
            </a:extLst>
          </p:cNvPr>
          <p:cNvSpPr>
            <a:spLocks noGrp="1"/>
          </p:cNvSpPr>
          <p:nvPr/>
        </p:nvSpPr>
        <p:spPr>
          <a:xfrm>
            <a:off x="609600" y="6600825"/>
            <a:ext cx="6953250" cy="171450"/>
          </a:xfrm>
          <a:prstGeom prst="rect">
            <a:avLst/>
          </a:prstGeom>
          <a:noFill/>
          <a:ln w="0">
            <a:noFill/>
            <a:prstDash val="solid"/>
          </a:ln>
        </p:spPr>
        <p:txBody>
          <a:bodyPr lIns="0" tIns="0" rIns="0" bIns="0" anchor="t">
            <a:normAutofit/>
          </a:bodyPr>
          <a:lstStyle>
            <a:defPPr algn="l">
              <a:defRPr sz="750" b="0">
                <a:solidFill>
                  <a:srgbClr val="6F8598"/>
                </a:solidFill>
                <a:latin typeface="Segoe UI"/>
                <a:ea typeface="Segoe UI"/>
                <a:cs typeface="Segoe UI"/>
              </a:defRPr>
            </a:defPPr>
          </a:lstStyle>
          <a:p>
            <a:pPr algn="l">
              <a:defRPr sz="750" b="0">
                <a:solidFill>
                  <a:srgbClr val="6F8598"/>
                </a:solidFill>
                <a:latin typeface="Segoe UI"/>
                <a:ea typeface="Segoe UI"/>
                <a:cs typeface="Segoe UI"/>
              </a:defRPr>
            </a:pPr>
            <a:r>
              <a:rPr sz="750" b="0">
                <a:solidFill>
                  <a:srgbClr val="6F8598"/>
                </a:solidFill>
                <a:latin typeface="Segoe UI"/>
                <a:ea typeface="Segoe UI"/>
                <a:cs typeface="Segoe UI"/>
              </a:rPr>
              <a:t>Synthetic healthcare data generated by Synthea</a:t>
            </a:r>
          </a:p>
        </p:txBody>
      </p:sp>
    </p:spTree>
    <p:extLst>
      <p:ext uri="{BB962C8B-B14F-4D97-AF65-F5344CB8AC3E}">
        <p14:creationId xmlns:p14="http://schemas.microsoft.com/office/powerpoint/2010/main" val="214615054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BFECAD8E-B57E-4DE1-9C5B-A6A6573F8EC6}"/>
              </a:ext>
            </a:extLst>
          </p:cNvPr>
          <p:cNvSpPr>
            <a:spLocks noGrp="1"/>
          </p:cNvSpPr>
          <p:nvPr/>
        </p:nvSpPr>
        <p:spPr>
          <a:xfrm>
            <a:off x="0" y="0"/>
            <a:ext cx="12192000" cy="76200"/>
          </a:xfrm>
          <a:prstGeom prst="rect">
            <a:avLst/>
          </a:prstGeom>
          <a:solidFill>
            <a:srgbClr val="114873"/>
          </a:solidFill>
          <a:ln w="0">
            <a:noFill/>
            <a:prstDash val="solid"/>
          </a:ln>
        </p:spPr>
        <p:txBody>
          <a:bodyPr/>
          <a:lstStyle/>
          <a:p>
            <a:endParaRPr lang="en-US"/>
          </a:p>
        </p:txBody>
      </p:sp>
      <p:sp>
        <p:nvSpPr>
          <p:cNvPr id="2" name="Rectangle 1">
            <a:extLst>
              <a:ext uri="{FF2B5EF4-FFF2-40B4-BE49-F238E27FC236}">
                <a16:creationId xmlns:a16="http://schemas.microsoft.com/office/drawing/2014/main" id="{BD56EA9A-0FF3-4CAA-8336-25CBBD37B342}"/>
              </a:ext>
            </a:extLst>
          </p:cNvPr>
          <p:cNvSpPr>
            <a:spLocks noGrp="1"/>
          </p:cNvSpPr>
          <p:nvPr/>
        </p:nvSpPr>
        <p:spPr>
          <a:xfrm>
            <a:off x="609600" y="285750"/>
            <a:ext cx="9906000" cy="495300"/>
          </a:xfrm>
          <a:prstGeom prst="rect">
            <a:avLst/>
          </a:prstGeom>
          <a:noFill/>
          <a:ln w="0">
            <a:noFill/>
            <a:prstDash val="solid"/>
          </a:ln>
        </p:spPr>
        <p:txBody>
          <a:bodyPr lIns="0" tIns="0" rIns="0" bIns="0" anchor="ctr">
            <a:normAutofit/>
          </a:bodyPr>
          <a:lstStyle>
            <a:defPPr algn="l">
              <a:defRPr sz="2550" b="1">
                <a:solidFill>
                  <a:srgbClr val="114873"/>
                </a:solidFill>
                <a:latin typeface="Segoe UI"/>
                <a:ea typeface="Segoe UI"/>
                <a:cs typeface="Segoe UI"/>
              </a:defRPr>
            </a:defPPr>
          </a:lstStyle>
          <a:p>
            <a:pPr algn="l">
              <a:defRPr sz="2550" b="1">
                <a:solidFill>
                  <a:srgbClr val="114873"/>
                </a:solidFill>
                <a:latin typeface="Segoe UI"/>
                <a:ea typeface="Segoe UI"/>
                <a:cs typeface="Segoe UI"/>
              </a:defRPr>
            </a:pPr>
            <a:r>
              <a:rPr sz="2550" b="1">
                <a:solidFill>
                  <a:srgbClr val="114873"/>
                </a:solidFill>
                <a:latin typeface="Segoe UI"/>
                <a:ea typeface="Segoe UI"/>
                <a:cs typeface="Segoe UI"/>
              </a:rPr>
              <a:t>Utilization and claim cost concentrate in different segments</a:t>
            </a:r>
          </a:p>
        </p:txBody>
      </p:sp>
      <p:sp>
        <p:nvSpPr>
          <p:cNvPr id="3" name="Rectangle 2">
            <a:extLst>
              <a:ext uri="{FF2B5EF4-FFF2-40B4-BE49-F238E27FC236}">
                <a16:creationId xmlns:a16="http://schemas.microsoft.com/office/drawing/2014/main" id="{B2D937DD-CDDF-41C4-B90A-9645724BC5AD}"/>
              </a:ext>
            </a:extLst>
          </p:cNvPr>
          <p:cNvSpPr>
            <a:spLocks noGrp="1"/>
          </p:cNvSpPr>
          <p:nvPr/>
        </p:nvSpPr>
        <p:spPr>
          <a:xfrm>
            <a:off x="628650" y="781050"/>
            <a:ext cx="10287000" cy="304800"/>
          </a:xfrm>
          <a:prstGeom prst="rect">
            <a:avLst/>
          </a:prstGeom>
          <a:noFill/>
          <a:ln w="0">
            <a:noFill/>
            <a:prstDash val="solid"/>
          </a:ln>
        </p:spPr>
        <p:txBody>
          <a:bodyPr lIns="0" tIns="0" rIns="0" bIns="0" anchor="ctr">
            <a:normAutofit/>
          </a:bodyPr>
          <a:lstStyle>
            <a:defPPr algn="l">
              <a:defRPr sz="1200" b="0">
                <a:solidFill>
                  <a:srgbClr val="6F8598"/>
                </a:solidFill>
                <a:latin typeface="Segoe UI"/>
                <a:ea typeface="Segoe UI"/>
                <a:cs typeface="Segoe UI"/>
              </a:defRPr>
            </a:defPPr>
          </a:lstStyle>
          <a:p>
            <a:pPr algn="l">
              <a:defRPr sz="1200" b="0">
                <a:solidFill>
                  <a:srgbClr val="6F8598"/>
                </a:solidFill>
                <a:latin typeface="Segoe UI"/>
                <a:ea typeface="Segoe UI"/>
                <a:cs typeface="Segoe UI"/>
              </a:defRPr>
            </a:pPr>
            <a:r>
              <a:rPr sz="1200" b="0" dirty="0">
                <a:solidFill>
                  <a:srgbClr val="6F8598"/>
                </a:solidFill>
                <a:latin typeface="Segoe UI"/>
                <a:ea typeface="Segoe UI"/>
                <a:cs typeface="Segoe UI"/>
              </a:rPr>
              <a:t>Lahey leads encounter volume, while the No Insurance category leads total claim cost</a:t>
            </a:r>
            <a:r>
              <a:rPr lang="en-US" sz="1200" b="0" dirty="0">
                <a:solidFill>
                  <a:srgbClr val="6F8598"/>
                </a:solidFill>
                <a:latin typeface="Segoe UI"/>
                <a:ea typeface="Segoe UI"/>
                <a:cs typeface="Segoe UI"/>
              </a:rPr>
              <a:t>s</a:t>
            </a:r>
            <a:endParaRPr sz="1200" b="0" dirty="0">
              <a:solidFill>
                <a:srgbClr val="6F8598"/>
              </a:solidFill>
              <a:latin typeface="Segoe UI"/>
              <a:ea typeface="Segoe UI"/>
              <a:cs typeface="Segoe UI"/>
            </a:endParaRPr>
          </a:p>
        </p:txBody>
      </p:sp>
      <p:sp>
        <p:nvSpPr>
          <p:cNvPr id="4" name="Rectangle 3">
            <a:extLst>
              <a:ext uri="{FF2B5EF4-FFF2-40B4-BE49-F238E27FC236}">
                <a16:creationId xmlns:a16="http://schemas.microsoft.com/office/drawing/2014/main" id="{9C024DB9-3F43-4A12-8A66-CB8ECC1E33E0}"/>
              </a:ext>
            </a:extLst>
          </p:cNvPr>
          <p:cNvSpPr>
            <a:spLocks noGrp="1"/>
          </p:cNvSpPr>
          <p:nvPr/>
        </p:nvSpPr>
        <p:spPr>
          <a:xfrm>
            <a:off x="11144250" y="361950"/>
            <a:ext cx="457200" cy="285750"/>
          </a:xfrm>
          <a:prstGeom prst="rect">
            <a:avLst/>
          </a:prstGeom>
          <a:noFill/>
          <a:ln w="0">
            <a:noFill/>
            <a:prstDash val="solid"/>
          </a:ln>
        </p:spPr>
        <p:txBody>
          <a:bodyPr lIns="0" tIns="0" rIns="0" bIns="0" anchor="t">
            <a:normAutofit/>
          </a:bodyPr>
          <a:lstStyle>
            <a:defPPr algn="r">
              <a:defRPr sz="1050" b="1">
                <a:solidFill>
                  <a:srgbClr val="6F8598"/>
                </a:solidFill>
                <a:latin typeface="Segoe UI"/>
                <a:ea typeface="Segoe UI"/>
                <a:cs typeface="Segoe UI"/>
              </a:defRPr>
            </a:defPPr>
          </a:lstStyle>
          <a:p>
            <a:pPr algn="r">
              <a:defRPr sz="1050" b="1">
                <a:solidFill>
                  <a:srgbClr val="6F8598"/>
                </a:solidFill>
                <a:latin typeface="Segoe UI"/>
                <a:ea typeface="Segoe UI"/>
                <a:cs typeface="Segoe UI"/>
              </a:defRPr>
            </a:pPr>
            <a:r>
              <a:rPr sz="1050" b="1">
                <a:solidFill>
                  <a:srgbClr val="6F8598"/>
                </a:solidFill>
                <a:latin typeface="Segoe UI"/>
                <a:ea typeface="Segoe UI"/>
                <a:cs typeface="Segoe UI"/>
              </a:rPr>
              <a:t>08</a:t>
            </a:r>
          </a:p>
        </p:txBody>
      </p:sp>
      <p:sp>
        <p:nvSpPr>
          <p:cNvPr id="5" name="Rectangle 4">
            <a:extLst>
              <a:ext uri="{FF2B5EF4-FFF2-40B4-BE49-F238E27FC236}">
                <a16:creationId xmlns:a16="http://schemas.microsoft.com/office/drawing/2014/main" id="{EE36CC3A-33F9-4836-8BBD-A00727AC158D}"/>
              </a:ext>
            </a:extLst>
          </p:cNvPr>
          <p:cNvSpPr>
            <a:spLocks noGrp="1"/>
          </p:cNvSpPr>
          <p:nvPr/>
        </p:nvSpPr>
        <p:spPr>
          <a:xfrm>
            <a:off x="666750" y="1333500"/>
            <a:ext cx="4953000" cy="323850"/>
          </a:xfrm>
          <a:prstGeom prst="rect">
            <a:avLst/>
          </a:prstGeom>
          <a:noFill/>
          <a:ln w="0">
            <a:noFill/>
            <a:prstDash val="solid"/>
          </a:ln>
        </p:spPr>
        <p:txBody>
          <a:bodyPr lIns="0" tIns="0" rIns="0" bIns="0" anchor="t">
            <a:normAutofit/>
          </a:bodyPr>
          <a:lstStyle>
            <a:defPPr algn="l">
              <a:defRPr sz="1650" b="1">
                <a:solidFill>
                  <a:srgbClr val="114873"/>
                </a:solidFill>
                <a:latin typeface="Segoe UI"/>
                <a:ea typeface="Segoe UI"/>
                <a:cs typeface="Segoe UI"/>
              </a:defRPr>
            </a:defPPr>
          </a:lstStyle>
          <a:p>
            <a:pPr algn="l">
              <a:defRPr sz="1650" b="1">
                <a:solidFill>
                  <a:srgbClr val="114873"/>
                </a:solidFill>
                <a:latin typeface="Segoe UI"/>
                <a:ea typeface="Segoe UI"/>
                <a:cs typeface="Segoe UI"/>
              </a:defRPr>
            </a:pPr>
            <a:r>
              <a:rPr sz="1650" b="1">
                <a:solidFill>
                  <a:srgbClr val="114873"/>
                </a:solidFill>
                <a:latin typeface="Segoe UI"/>
                <a:ea typeface="Segoe UI"/>
                <a:cs typeface="Segoe UI"/>
              </a:rPr>
              <a:t>Organization volume and average cost</a:t>
            </a:r>
          </a:p>
        </p:txBody>
      </p:sp>
      <p:graphicFrame>
        <p:nvGraphicFramePr>
          <p:cNvPr id="6" name="Table 5">
            <a:extLst>
              <a:ext uri="{FF2B5EF4-FFF2-40B4-BE49-F238E27FC236}">
                <a16:creationId xmlns:a16="http://schemas.microsoft.com/office/drawing/2014/main" id="{ED424147-1178-4DB3-A389-57F05AF7C0FE}"/>
              </a:ext>
            </a:extLst>
          </p:cNvPr>
          <p:cNvGraphicFramePr/>
          <p:nvPr>
            <p:extLst>
              <p:ext uri="{D42A27DB-BD31-4B8C-83A1-F6EECF244321}">
                <p14:modId xmlns:p14="http://schemas.microsoft.com/office/powerpoint/2010/main" val="2435360091"/>
              </p:ext>
            </p:extLst>
          </p:nvPr>
        </p:nvGraphicFramePr>
        <p:xfrm>
          <a:off x="666750" y="1809750"/>
          <a:ext cx="6191250" cy="2238376"/>
        </p:xfrm>
        <a:graphic>
          <a:graphicData uri="http://schemas.openxmlformats.org/drawingml/2006/table">
            <a:tbl>
              <a:tblPr firstRow="1"/>
              <a:tblGrid>
                <a:gridCol w="2667000">
                  <a:extLst>
                    <a:ext uri="{9D8B030D-6E8A-4147-A177-3AD203B41FA5}">
                      <a16:colId xmlns:a16="http://schemas.microsoft.com/office/drawing/2014/main" val="20000"/>
                    </a:ext>
                  </a:extLst>
                </a:gridCol>
                <a:gridCol w="1047750">
                  <a:extLst>
                    <a:ext uri="{9D8B030D-6E8A-4147-A177-3AD203B41FA5}">
                      <a16:colId xmlns:a16="http://schemas.microsoft.com/office/drawing/2014/main" val="20001"/>
                    </a:ext>
                  </a:extLst>
                </a:gridCol>
                <a:gridCol w="952500">
                  <a:extLst>
                    <a:ext uri="{9D8B030D-6E8A-4147-A177-3AD203B41FA5}">
                      <a16:colId xmlns:a16="http://schemas.microsoft.com/office/drawing/2014/main" val="20002"/>
                    </a:ext>
                  </a:extLst>
                </a:gridCol>
                <a:gridCol w="1524000">
                  <a:extLst>
                    <a:ext uri="{9D8B030D-6E8A-4147-A177-3AD203B41FA5}">
                      <a16:colId xmlns:a16="http://schemas.microsoft.com/office/drawing/2014/main" val="20003"/>
                    </a:ext>
                  </a:extLst>
                </a:gridCol>
              </a:tblGrid>
              <a:tr h="559594">
                <a:tc>
                  <a:txBody>
                    <a:bodyPr/>
                    <a:lstStyle/>
                    <a:p>
                      <a:r>
                        <a:rPr sz="1125" b="1">
                          <a:solidFill>
                            <a:srgbClr val="FFFFFF"/>
                          </a:solidFill>
                          <a:latin typeface="Segoe UI"/>
                          <a:ea typeface="Segoe UI"/>
                          <a:cs typeface="Segoe UI"/>
                        </a:rPr>
                        <a:t>Organization</a:t>
                      </a:r>
                    </a:p>
                  </a:txBody>
                  <a:tcPr marL="95250" marR="95250" marT="85725" marB="85725" anchor="ctr">
                    <a:solidFill>
                      <a:srgbClr val="114873"/>
                    </a:solidFill>
                  </a:tcPr>
                </a:tc>
                <a:tc>
                  <a:txBody>
                    <a:bodyPr/>
                    <a:lstStyle/>
                    <a:p>
                      <a:r>
                        <a:rPr sz="1125" b="1">
                          <a:solidFill>
                            <a:srgbClr val="FFFFFF"/>
                          </a:solidFill>
                          <a:latin typeface="Segoe UI"/>
                          <a:ea typeface="Segoe UI"/>
                          <a:cs typeface="Segoe UI"/>
                        </a:rPr>
                        <a:t>Encounters</a:t>
                      </a:r>
                    </a:p>
                  </a:txBody>
                  <a:tcPr marL="95250" marR="95250" marT="85725" marB="85725" anchor="ctr">
                    <a:solidFill>
                      <a:srgbClr val="114873"/>
                    </a:solidFill>
                  </a:tcPr>
                </a:tc>
                <a:tc>
                  <a:txBody>
                    <a:bodyPr/>
                    <a:lstStyle/>
                    <a:p>
                      <a:r>
                        <a:rPr sz="1125" b="1">
                          <a:solidFill>
                            <a:srgbClr val="FFFFFF"/>
                          </a:solidFill>
                          <a:latin typeface="Segoe UI"/>
                          <a:ea typeface="Segoe UI"/>
                          <a:cs typeface="Segoe UI"/>
                        </a:rPr>
                        <a:t>Patients</a:t>
                      </a:r>
                    </a:p>
                  </a:txBody>
                  <a:tcPr marL="95250" marR="95250" marT="85725" marB="85725" anchor="ctr">
                    <a:solidFill>
                      <a:srgbClr val="114873"/>
                    </a:solidFill>
                  </a:tcPr>
                </a:tc>
                <a:tc>
                  <a:txBody>
                    <a:bodyPr/>
                    <a:lstStyle/>
                    <a:p>
                      <a:r>
                        <a:rPr sz="1125" b="1">
                          <a:solidFill>
                            <a:srgbClr val="FFFFFF"/>
                          </a:solidFill>
                          <a:latin typeface="Segoe UI"/>
                          <a:ea typeface="Segoe UI"/>
                          <a:cs typeface="Segoe UI"/>
                        </a:rPr>
                        <a:t>Avg. cost</a:t>
                      </a:r>
                    </a:p>
                  </a:txBody>
                  <a:tcPr marL="95250" marR="95250" marT="85725" marB="85725" anchor="ctr">
                    <a:solidFill>
                      <a:srgbClr val="114873"/>
                    </a:solidFill>
                  </a:tcPr>
                </a:tc>
                <a:extLst>
                  <a:ext uri="{0D108BD9-81ED-4DB2-BD59-A6C34878D82A}">
                    <a16:rowId xmlns:a16="http://schemas.microsoft.com/office/drawing/2014/main" val="10000"/>
                  </a:ext>
                </a:extLst>
              </a:tr>
              <a:tr h="559594">
                <a:tc>
                  <a:txBody>
                    <a:bodyPr/>
                    <a:lstStyle/>
                    <a:p>
                      <a:r>
                        <a:rPr sz="1200" dirty="0">
                          <a:solidFill>
                            <a:srgbClr val="172B3D"/>
                          </a:solidFill>
                          <a:latin typeface="Segoe UI"/>
                          <a:ea typeface="Segoe UI"/>
                          <a:cs typeface="Segoe UI"/>
                        </a:rPr>
                        <a:t>Lahey</a:t>
                      </a:r>
                      <a:r>
                        <a:rPr lang="en-US" sz="1200" dirty="0">
                          <a:solidFill>
                            <a:srgbClr val="172B3D"/>
                          </a:solidFill>
                          <a:latin typeface="Segoe UI"/>
                          <a:ea typeface="Segoe UI"/>
                          <a:cs typeface="Segoe UI"/>
                        </a:rPr>
                        <a:t> Hospital &amp; Medical Center</a:t>
                      </a:r>
                      <a:endParaRPr sz="1200" dirty="0">
                        <a:solidFill>
                          <a:srgbClr val="172B3D"/>
                        </a:solidFill>
                        <a:latin typeface="Segoe UI"/>
                        <a:ea typeface="Segoe UI"/>
                        <a:cs typeface="Segoe UI"/>
                      </a:endParaRPr>
                    </a:p>
                  </a:txBody>
                  <a:tcPr marL="95250" marR="95250" marT="85725" marB="85725" anchor="ctr">
                    <a:solidFill>
                      <a:srgbClr val="EAF4FD"/>
                    </a:solidFill>
                  </a:tcPr>
                </a:tc>
                <a:tc>
                  <a:txBody>
                    <a:bodyPr/>
                    <a:lstStyle/>
                    <a:p>
                      <a:r>
                        <a:rPr sz="1200">
                          <a:solidFill>
                            <a:srgbClr val="172B3D"/>
                          </a:solidFill>
                          <a:latin typeface="Segoe UI"/>
                          <a:ea typeface="Segoe UI"/>
                          <a:cs typeface="Segoe UI"/>
                        </a:rPr>
                        <a:t>2,184</a:t>
                      </a:r>
                    </a:p>
                  </a:txBody>
                  <a:tcPr marL="95250" marR="95250" marT="85725" marB="85725" anchor="ctr">
                    <a:solidFill>
                      <a:srgbClr val="EAF4FD"/>
                    </a:solidFill>
                  </a:tcPr>
                </a:tc>
                <a:tc>
                  <a:txBody>
                    <a:bodyPr/>
                    <a:lstStyle/>
                    <a:p>
                      <a:r>
                        <a:rPr sz="1200">
                          <a:solidFill>
                            <a:srgbClr val="172B3D"/>
                          </a:solidFill>
                          <a:latin typeface="Segoe UI"/>
                          <a:ea typeface="Segoe UI"/>
                          <a:cs typeface="Segoe UI"/>
                        </a:rPr>
                        <a:t>21</a:t>
                      </a:r>
                    </a:p>
                  </a:txBody>
                  <a:tcPr marL="95250" marR="95250" marT="85725" marB="85725" anchor="ctr">
                    <a:solidFill>
                      <a:srgbClr val="EAF4FD"/>
                    </a:solidFill>
                  </a:tcPr>
                </a:tc>
                <a:tc>
                  <a:txBody>
                    <a:bodyPr/>
                    <a:lstStyle/>
                    <a:p>
                      <a:r>
                        <a:rPr sz="1200">
                          <a:solidFill>
                            <a:srgbClr val="172B3D"/>
                          </a:solidFill>
                          <a:latin typeface="Segoe UI"/>
                          <a:ea typeface="Segoe UI"/>
                          <a:cs typeface="Segoe UI"/>
                        </a:rPr>
                        <a:t>$3,021</a:t>
                      </a:r>
                    </a:p>
                  </a:txBody>
                  <a:tcPr marL="95250" marR="95250" marT="85725" marB="85725" anchor="ctr">
                    <a:solidFill>
                      <a:srgbClr val="EAF4FD"/>
                    </a:solidFill>
                  </a:tcPr>
                </a:tc>
                <a:extLst>
                  <a:ext uri="{0D108BD9-81ED-4DB2-BD59-A6C34878D82A}">
                    <a16:rowId xmlns:a16="http://schemas.microsoft.com/office/drawing/2014/main" val="10001"/>
                  </a:ext>
                </a:extLst>
              </a:tr>
              <a:tr h="559594">
                <a:tc>
                  <a:txBody>
                    <a:bodyPr/>
                    <a:lstStyle/>
                    <a:p>
                      <a:r>
                        <a:rPr sz="1200" dirty="0">
                          <a:solidFill>
                            <a:srgbClr val="172B3D"/>
                          </a:solidFill>
                          <a:latin typeface="Segoe UI"/>
                          <a:ea typeface="Segoe UI"/>
                          <a:cs typeface="Segoe UI"/>
                        </a:rPr>
                        <a:t>North Shore</a:t>
                      </a:r>
                      <a:r>
                        <a:rPr lang="en-US" sz="1200" dirty="0">
                          <a:solidFill>
                            <a:srgbClr val="172B3D"/>
                          </a:solidFill>
                          <a:latin typeface="Segoe UI"/>
                          <a:ea typeface="Segoe UI"/>
                          <a:cs typeface="Segoe UI"/>
                        </a:rPr>
                        <a:t> Medical Center</a:t>
                      </a:r>
                      <a:endParaRPr sz="1200" dirty="0">
                        <a:solidFill>
                          <a:srgbClr val="172B3D"/>
                        </a:solidFill>
                        <a:latin typeface="Segoe UI"/>
                        <a:ea typeface="Segoe UI"/>
                        <a:cs typeface="Segoe UI"/>
                      </a:endParaRPr>
                    </a:p>
                  </a:txBody>
                  <a:tcPr marL="95250" marR="95250" marT="85725" marB="85725" anchor="ctr"/>
                </a:tc>
                <a:tc>
                  <a:txBody>
                    <a:bodyPr/>
                    <a:lstStyle/>
                    <a:p>
                      <a:r>
                        <a:rPr sz="1200">
                          <a:solidFill>
                            <a:srgbClr val="172B3D"/>
                          </a:solidFill>
                          <a:latin typeface="Segoe UI"/>
                          <a:ea typeface="Segoe UI"/>
                          <a:cs typeface="Segoe UI"/>
                        </a:rPr>
                        <a:t>1,477</a:t>
                      </a:r>
                    </a:p>
                  </a:txBody>
                  <a:tcPr marL="95250" marR="95250" marT="85725" marB="85725" anchor="ctr"/>
                </a:tc>
                <a:tc>
                  <a:txBody>
                    <a:bodyPr/>
                    <a:lstStyle/>
                    <a:p>
                      <a:r>
                        <a:rPr sz="1200">
                          <a:solidFill>
                            <a:srgbClr val="172B3D"/>
                          </a:solidFill>
                          <a:latin typeface="Segoe UI"/>
                          <a:ea typeface="Segoe UI"/>
                          <a:cs typeface="Segoe UI"/>
                        </a:rPr>
                        <a:t>48</a:t>
                      </a:r>
                    </a:p>
                  </a:txBody>
                  <a:tcPr marL="95250" marR="95250" marT="85725" marB="85725" anchor="ctr"/>
                </a:tc>
                <a:tc>
                  <a:txBody>
                    <a:bodyPr/>
                    <a:lstStyle/>
                    <a:p>
                      <a:r>
                        <a:rPr sz="1200">
                          <a:solidFill>
                            <a:srgbClr val="172B3D"/>
                          </a:solidFill>
                          <a:latin typeface="Segoe UI"/>
                          <a:ea typeface="Segoe UI"/>
                          <a:cs typeface="Segoe UI"/>
                        </a:rPr>
                        <a:t>$5,224</a:t>
                      </a:r>
                    </a:p>
                  </a:txBody>
                  <a:tcPr marL="95250" marR="95250" marT="85725" marB="85725" anchor="ctr"/>
                </a:tc>
                <a:extLst>
                  <a:ext uri="{0D108BD9-81ED-4DB2-BD59-A6C34878D82A}">
                    <a16:rowId xmlns:a16="http://schemas.microsoft.com/office/drawing/2014/main" val="10002"/>
                  </a:ext>
                </a:extLst>
              </a:tr>
              <a:tr h="559594">
                <a:tc>
                  <a:txBody>
                    <a:bodyPr/>
                    <a:lstStyle/>
                    <a:p>
                      <a:r>
                        <a:rPr sz="1200" dirty="0">
                          <a:solidFill>
                            <a:srgbClr val="172B3D"/>
                          </a:solidFill>
                          <a:latin typeface="Segoe UI"/>
                          <a:ea typeface="Segoe UI"/>
                          <a:cs typeface="Segoe UI"/>
                        </a:rPr>
                        <a:t>Hallmark</a:t>
                      </a:r>
                      <a:r>
                        <a:rPr lang="en-US" sz="1200" dirty="0">
                          <a:solidFill>
                            <a:srgbClr val="172B3D"/>
                          </a:solidFill>
                          <a:latin typeface="Segoe UI"/>
                          <a:ea typeface="Segoe UI"/>
                          <a:cs typeface="Segoe UI"/>
                        </a:rPr>
                        <a:t> Health System</a:t>
                      </a:r>
                      <a:endParaRPr sz="1200" dirty="0">
                        <a:solidFill>
                          <a:srgbClr val="172B3D"/>
                        </a:solidFill>
                        <a:latin typeface="Segoe UI"/>
                        <a:ea typeface="Segoe UI"/>
                        <a:cs typeface="Segoe UI"/>
                      </a:endParaRPr>
                    </a:p>
                  </a:txBody>
                  <a:tcPr marL="95250" marR="95250" marT="85725" marB="85725" anchor="ctr">
                    <a:solidFill>
                      <a:srgbClr val="F3F7FA"/>
                    </a:solidFill>
                  </a:tcPr>
                </a:tc>
                <a:tc>
                  <a:txBody>
                    <a:bodyPr/>
                    <a:lstStyle/>
                    <a:p>
                      <a:r>
                        <a:rPr sz="1200">
                          <a:solidFill>
                            <a:srgbClr val="172B3D"/>
                          </a:solidFill>
                          <a:latin typeface="Segoe UI"/>
                          <a:ea typeface="Segoe UI"/>
                          <a:cs typeface="Segoe UI"/>
                        </a:rPr>
                        <a:t>1,105</a:t>
                      </a:r>
                    </a:p>
                  </a:txBody>
                  <a:tcPr marL="95250" marR="95250" marT="85725" marB="85725" anchor="ctr">
                    <a:solidFill>
                      <a:srgbClr val="F3F7FA"/>
                    </a:solidFill>
                  </a:tcPr>
                </a:tc>
                <a:tc>
                  <a:txBody>
                    <a:bodyPr/>
                    <a:lstStyle/>
                    <a:p>
                      <a:r>
                        <a:rPr sz="1200">
                          <a:solidFill>
                            <a:srgbClr val="172B3D"/>
                          </a:solidFill>
                          <a:latin typeface="Segoe UI"/>
                          <a:ea typeface="Segoe UI"/>
                          <a:cs typeface="Segoe UI"/>
                        </a:rPr>
                        <a:t>56</a:t>
                      </a:r>
                    </a:p>
                  </a:txBody>
                  <a:tcPr marL="95250" marR="95250" marT="85725" marB="85725" anchor="ctr">
                    <a:solidFill>
                      <a:srgbClr val="F3F7FA"/>
                    </a:solidFill>
                  </a:tcPr>
                </a:tc>
                <a:tc>
                  <a:txBody>
                    <a:bodyPr/>
                    <a:lstStyle/>
                    <a:p>
                      <a:r>
                        <a:rPr sz="1200" dirty="0">
                          <a:solidFill>
                            <a:srgbClr val="172B3D"/>
                          </a:solidFill>
                          <a:latin typeface="Segoe UI"/>
                          <a:ea typeface="Segoe UI"/>
                          <a:cs typeface="Segoe UI"/>
                        </a:rPr>
                        <a:t>$5,700</a:t>
                      </a:r>
                    </a:p>
                  </a:txBody>
                  <a:tcPr marL="95250" marR="95250" marT="85725" marB="85725" anchor="ctr">
                    <a:solidFill>
                      <a:srgbClr val="F3F7FA"/>
                    </a:solidFill>
                  </a:tcPr>
                </a:tc>
                <a:extLst>
                  <a:ext uri="{0D108BD9-81ED-4DB2-BD59-A6C34878D82A}">
                    <a16:rowId xmlns:a16="http://schemas.microsoft.com/office/drawing/2014/main" val="10003"/>
                  </a:ext>
                </a:extLst>
              </a:tr>
            </a:tbl>
          </a:graphicData>
        </a:graphic>
      </p:graphicFrame>
      <p:sp>
        <p:nvSpPr>
          <p:cNvPr id="7" name="Rectangle 6">
            <a:extLst>
              <a:ext uri="{FF2B5EF4-FFF2-40B4-BE49-F238E27FC236}">
                <a16:creationId xmlns:a16="http://schemas.microsoft.com/office/drawing/2014/main" id="{36F052BB-4128-495E-8E87-7EE067423F0D}"/>
              </a:ext>
            </a:extLst>
          </p:cNvPr>
          <p:cNvSpPr>
            <a:spLocks noGrp="1"/>
          </p:cNvSpPr>
          <p:nvPr/>
        </p:nvSpPr>
        <p:spPr>
          <a:xfrm>
            <a:off x="666750" y="4333875"/>
            <a:ext cx="6143625" cy="590550"/>
          </a:xfrm>
          <a:prstGeom prst="rect">
            <a:avLst/>
          </a:prstGeom>
          <a:noFill/>
          <a:ln w="0">
            <a:noFill/>
            <a:prstDash val="solid"/>
          </a:ln>
        </p:spPr>
        <p:txBody>
          <a:bodyPr lIns="0" tIns="0" rIns="0" bIns="0" anchor="t">
            <a:normAutofit/>
          </a:bodyPr>
          <a:lstStyle>
            <a:defPPr algn="l">
              <a:defRPr sz="1350" b="1">
                <a:solidFill>
                  <a:srgbClr val="114873"/>
                </a:solidFill>
                <a:latin typeface="Segoe UI"/>
                <a:ea typeface="Segoe UI"/>
                <a:cs typeface="Segoe UI"/>
              </a:defRPr>
            </a:defPPr>
          </a:lstStyle>
          <a:p>
            <a:pPr algn="l">
              <a:defRPr sz="1350" b="1">
                <a:solidFill>
                  <a:srgbClr val="114873"/>
                </a:solidFill>
                <a:latin typeface="Segoe UI"/>
                <a:ea typeface="Segoe UI"/>
                <a:cs typeface="Segoe UI"/>
              </a:defRPr>
            </a:pPr>
            <a:r>
              <a:rPr sz="1350" b="1" dirty="0">
                <a:solidFill>
                  <a:srgbClr val="114873"/>
                </a:solidFill>
                <a:latin typeface="Segoe UI"/>
                <a:ea typeface="Segoe UI"/>
                <a:cs typeface="Segoe UI"/>
              </a:rPr>
              <a:t>Lahey recorded the highest volume and the lowest average cost among the three organizations.</a:t>
            </a:r>
          </a:p>
        </p:txBody>
      </p:sp>
      <p:sp>
        <p:nvSpPr>
          <p:cNvPr id="8" name="Rectangle 7">
            <a:extLst>
              <a:ext uri="{FF2B5EF4-FFF2-40B4-BE49-F238E27FC236}">
                <a16:creationId xmlns:a16="http://schemas.microsoft.com/office/drawing/2014/main" id="{B54A1794-243D-4AA7-8D66-E08DAFC042C9}"/>
              </a:ext>
            </a:extLst>
          </p:cNvPr>
          <p:cNvSpPr>
            <a:spLocks noGrp="1"/>
          </p:cNvSpPr>
          <p:nvPr/>
        </p:nvSpPr>
        <p:spPr>
          <a:xfrm>
            <a:off x="666750" y="5000625"/>
            <a:ext cx="6143625" cy="781050"/>
          </a:xfrm>
          <a:prstGeom prst="rect">
            <a:avLst/>
          </a:prstGeom>
          <a:noFill/>
          <a:ln w="0">
            <a:noFill/>
            <a:prstDash val="solid"/>
          </a:ln>
        </p:spPr>
        <p:txBody>
          <a:bodyPr lIns="0" tIns="0" rIns="0" bIns="0" anchor="t">
            <a:normAutofit/>
          </a:bodyPr>
          <a:lstStyle>
            <a:defPPr algn="l">
              <a:defRPr sz="1200" b="0">
                <a:solidFill>
                  <a:srgbClr val="405A70"/>
                </a:solidFill>
                <a:latin typeface="Segoe UI"/>
                <a:ea typeface="Segoe UI"/>
                <a:cs typeface="Segoe UI"/>
              </a:defRPr>
            </a:defPPr>
          </a:lstStyle>
          <a:p>
            <a:pPr algn="l">
              <a:defRPr sz="1200" b="0">
                <a:solidFill>
                  <a:srgbClr val="405A70"/>
                </a:solidFill>
                <a:latin typeface="Segoe UI"/>
                <a:ea typeface="Segoe UI"/>
                <a:cs typeface="Segoe UI"/>
              </a:defRPr>
            </a:pPr>
            <a:r>
              <a:rPr sz="1200" b="0" dirty="0">
                <a:solidFill>
                  <a:srgbClr val="405A70"/>
                </a:solidFill>
                <a:latin typeface="Segoe UI"/>
                <a:ea typeface="Segoe UI"/>
                <a:cs typeface="Segoe UI"/>
              </a:rPr>
              <a:t>Its 21 patients generated roughly 104 encounters each across the full synthetic history, </a:t>
            </a:r>
            <a:r>
              <a:rPr lang="en-US" sz="1200" b="0" dirty="0">
                <a:solidFill>
                  <a:srgbClr val="405A70"/>
                </a:solidFill>
                <a:latin typeface="Segoe UI"/>
                <a:ea typeface="Segoe UI"/>
                <a:cs typeface="Segoe UI"/>
              </a:rPr>
              <a:t>showing high repeating numbers.</a:t>
            </a:r>
            <a:endParaRPr sz="1200" b="0" dirty="0">
              <a:solidFill>
                <a:srgbClr val="405A70"/>
              </a:solidFill>
              <a:latin typeface="Segoe UI"/>
              <a:ea typeface="Segoe UI"/>
              <a:cs typeface="Segoe UI"/>
            </a:endParaRPr>
          </a:p>
        </p:txBody>
      </p:sp>
      <p:sp>
        <p:nvSpPr>
          <p:cNvPr id="9" name="Rectangle 8">
            <a:extLst>
              <a:ext uri="{FF2B5EF4-FFF2-40B4-BE49-F238E27FC236}">
                <a16:creationId xmlns:a16="http://schemas.microsoft.com/office/drawing/2014/main" id="{FCE09C90-703B-47E8-9A51-F2EB43B6F4B6}"/>
              </a:ext>
            </a:extLst>
          </p:cNvPr>
          <p:cNvSpPr>
            <a:spLocks noGrp="1"/>
          </p:cNvSpPr>
          <p:nvPr/>
        </p:nvSpPr>
        <p:spPr>
          <a:xfrm>
            <a:off x="7334250" y="1333500"/>
            <a:ext cx="4095750" cy="323850"/>
          </a:xfrm>
          <a:prstGeom prst="rect">
            <a:avLst/>
          </a:prstGeom>
          <a:noFill/>
          <a:ln w="0">
            <a:noFill/>
            <a:prstDash val="solid"/>
          </a:ln>
        </p:spPr>
        <p:txBody>
          <a:bodyPr lIns="0" tIns="0" rIns="0" bIns="0" anchor="t">
            <a:normAutofit/>
          </a:bodyPr>
          <a:lstStyle>
            <a:defPPr algn="l">
              <a:defRPr sz="1650" b="1">
                <a:solidFill>
                  <a:srgbClr val="114873"/>
                </a:solidFill>
                <a:latin typeface="Segoe UI"/>
                <a:ea typeface="Segoe UI"/>
                <a:cs typeface="Segoe UI"/>
              </a:defRPr>
            </a:defPPr>
          </a:lstStyle>
          <a:p>
            <a:pPr algn="l">
              <a:defRPr sz="1650" b="1">
                <a:solidFill>
                  <a:srgbClr val="114873"/>
                </a:solidFill>
                <a:latin typeface="Segoe UI"/>
                <a:ea typeface="Segoe UI"/>
                <a:cs typeface="Segoe UI"/>
              </a:defRPr>
            </a:pPr>
            <a:r>
              <a:rPr sz="1650" b="1">
                <a:solidFill>
                  <a:srgbClr val="114873"/>
                </a:solidFill>
                <a:latin typeface="Segoe UI"/>
                <a:ea typeface="Segoe UI"/>
                <a:cs typeface="Segoe UI"/>
              </a:rPr>
              <a:t>Claim cost by payer category</a:t>
            </a:r>
          </a:p>
        </p:txBody>
      </p:sp>
      <p:graphicFrame>
        <p:nvGraphicFramePr>
          <p:cNvPr id="10" name="Chart">
            <a:extLst>
              <a:ext uri="{FF2B5EF4-FFF2-40B4-BE49-F238E27FC236}">
                <a16:creationId xmlns:a16="http://schemas.microsoft.com/office/drawing/2014/main" id="{9EEED5F9-3509-427E-B631-98552118DB30}"/>
              </a:ext>
            </a:extLst>
          </p:cNvPr>
          <p:cNvGraphicFramePr/>
          <p:nvPr/>
        </p:nvGraphicFramePr>
        <p:xfrm>
          <a:off x="7239000" y="1809750"/>
          <a:ext cx="4286250" cy="3143250"/>
        </p:xfrm>
        <a:graphic>
          <a:graphicData uri="http://schemas.openxmlformats.org/drawingml/2006/chart">
            <c:chart xmlns:c="http://schemas.openxmlformats.org/drawingml/2006/chart" xmlns:r="http://schemas.openxmlformats.org/officeDocument/2006/relationships" r:id="rId3"/>
          </a:graphicData>
        </a:graphic>
      </p:graphicFrame>
      <p:sp>
        <p:nvSpPr>
          <p:cNvPr id="11" name="Rectangle 10">
            <a:extLst>
              <a:ext uri="{FF2B5EF4-FFF2-40B4-BE49-F238E27FC236}">
                <a16:creationId xmlns:a16="http://schemas.microsoft.com/office/drawing/2014/main" id="{F1F53070-03CF-4463-8D0E-B5DC5B5EB0A4}"/>
              </a:ext>
            </a:extLst>
          </p:cNvPr>
          <p:cNvSpPr>
            <a:spLocks noGrp="1"/>
          </p:cNvSpPr>
          <p:nvPr/>
        </p:nvSpPr>
        <p:spPr>
          <a:xfrm>
            <a:off x="7762875" y="5095875"/>
            <a:ext cx="1428750" cy="514350"/>
          </a:xfrm>
          <a:prstGeom prst="rect">
            <a:avLst/>
          </a:prstGeom>
          <a:noFill/>
          <a:ln w="0">
            <a:noFill/>
            <a:prstDash val="solid"/>
          </a:ln>
        </p:spPr>
        <p:txBody>
          <a:bodyPr lIns="0" tIns="0" rIns="0" bIns="0" anchor="t">
            <a:normAutofit/>
          </a:bodyPr>
          <a:lstStyle>
            <a:defPPr algn="l">
              <a:defRPr sz="2925" b="1">
                <a:solidFill>
                  <a:srgbClr val="168AF4"/>
                </a:solidFill>
                <a:latin typeface="Segoe UI"/>
                <a:ea typeface="Segoe UI"/>
                <a:cs typeface="Segoe UI"/>
              </a:defRPr>
            </a:defPPr>
          </a:lstStyle>
          <a:p>
            <a:pPr algn="l">
              <a:defRPr sz="2925" b="1">
                <a:solidFill>
                  <a:srgbClr val="168AF4"/>
                </a:solidFill>
                <a:latin typeface="Segoe UI"/>
                <a:ea typeface="Segoe UI"/>
                <a:cs typeface="Segoe UI"/>
              </a:defRPr>
            </a:pPr>
            <a:r>
              <a:rPr sz="2925" b="1">
                <a:solidFill>
                  <a:srgbClr val="168AF4"/>
                </a:solidFill>
                <a:latin typeface="Segoe UI"/>
                <a:ea typeface="Segoe UI"/>
                <a:cs typeface="Segoe UI"/>
              </a:rPr>
              <a:t>39.8%</a:t>
            </a:r>
          </a:p>
        </p:txBody>
      </p:sp>
      <p:sp>
        <p:nvSpPr>
          <p:cNvPr id="12" name="Rectangle 11">
            <a:extLst>
              <a:ext uri="{FF2B5EF4-FFF2-40B4-BE49-F238E27FC236}">
                <a16:creationId xmlns:a16="http://schemas.microsoft.com/office/drawing/2014/main" id="{F771089A-457E-4333-932D-E0D30A47C44F}"/>
              </a:ext>
            </a:extLst>
          </p:cNvPr>
          <p:cNvSpPr>
            <a:spLocks noGrp="1"/>
          </p:cNvSpPr>
          <p:nvPr/>
        </p:nvSpPr>
        <p:spPr>
          <a:xfrm>
            <a:off x="9144000" y="5143500"/>
            <a:ext cx="2333625" cy="714375"/>
          </a:xfrm>
          <a:prstGeom prst="rect">
            <a:avLst/>
          </a:prstGeom>
          <a:noFill/>
          <a:ln w="0">
            <a:noFill/>
            <a:prstDash val="solid"/>
          </a:ln>
        </p:spPr>
        <p:txBody>
          <a:bodyPr lIns="0" tIns="0" rIns="0" bIns="0" anchor="t">
            <a:normAutofit/>
          </a:bodyPr>
          <a:lstStyle>
            <a:defPPr algn="l">
              <a:defRPr sz="1200" b="0">
                <a:solidFill>
                  <a:srgbClr val="405A70"/>
                </a:solidFill>
                <a:latin typeface="Segoe UI"/>
                <a:ea typeface="Segoe UI"/>
                <a:cs typeface="Segoe UI"/>
              </a:defRPr>
            </a:defPPr>
          </a:lstStyle>
          <a:p>
            <a:pPr algn="l">
              <a:defRPr sz="1200" b="0">
                <a:solidFill>
                  <a:srgbClr val="405A70"/>
                </a:solidFill>
                <a:latin typeface="Segoe UI"/>
                <a:ea typeface="Segoe UI"/>
                <a:cs typeface="Segoe UI"/>
              </a:defRPr>
            </a:pPr>
            <a:r>
              <a:rPr sz="1200" b="0">
                <a:solidFill>
                  <a:srgbClr val="405A70"/>
                </a:solidFill>
                <a:latin typeface="Segoe UI"/>
                <a:ea typeface="Segoe UI"/>
                <a:cs typeface="Segoe UI"/>
              </a:rPr>
              <a:t>of total claim cost belonged to encounters categorized as No Insurance</a:t>
            </a:r>
          </a:p>
        </p:txBody>
      </p:sp>
      <p:sp>
        <p:nvSpPr>
          <p:cNvPr id="13" name="Rectangle 12">
            <a:extLst>
              <a:ext uri="{FF2B5EF4-FFF2-40B4-BE49-F238E27FC236}">
                <a16:creationId xmlns:a16="http://schemas.microsoft.com/office/drawing/2014/main" id="{19F271F1-D044-4E6C-A426-05944A496B0E}"/>
              </a:ext>
            </a:extLst>
          </p:cNvPr>
          <p:cNvSpPr>
            <a:spLocks noGrp="1"/>
          </p:cNvSpPr>
          <p:nvPr/>
        </p:nvSpPr>
        <p:spPr>
          <a:xfrm>
            <a:off x="609600" y="6543675"/>
            <a:ext cx="10972800" cy="9525"/>
          </a:xfrm>
          <a:prstGeom prst="rect">
            <a:avLst/>
          </a:prstGeom>
          <a:solidFill>
            <a:srgbClr val="D9E4EC"/>
          </a:solidFill>
          <a:ln w="0">
            <a:noFill/>
            <a:prstDash val="solid"/>
          </a:ln>
        </p:spPr>
        <p:txBody>
          <a:bodyPr/>
          <a:lstStyle/>
          <a:p>
            <a:endParaRPr lang="en-US"/>
          </a:p>
        </p:txBody>
      </p:sp>
      <p:sp>
        <p:nvSpPr>
          <p:cNvPr id="14" name="Rectangle 13">
            <a:extLst>
              <a:ext uri="{FF2B5EF4-FFF2-40B4-BE49-F238E27FC236}">
                <a16:creationId xmlns:a16="http://schemas.microsoft.com/office/drawing/2014/main" id="{C6B0AF11-407A-4CEC-9725-A6FB44057C22}"/>
              </a:ext>
            </a:extLst>
          </p:cNvPr>
          <p:cNvSpPr>
            <a:spLocks noGrp="1"/>
          </p:cNvSpPr>
          <p:nvPr/>
        </p:nvSpPr>
        <p:spPr>
          <a:xfrm>
            <a:off x="609600" y="6600825"/>
            <a:ext cx="6953250" cy="171450"/>
          </a:xfrm>
          <a:prstGeom prst="rect">
            <a:avLst/>
          </a:prstGeom>
          <a:noFill/>
          <a:ln w="0">
            <a:noFill/>
            <a:prstDash val="solid"/>
          </a:ln>
        </p:spPr>
        <p:txBody>
          <a:bodyPr lIns="0" tIns="0" rIns="0" bIns="0" anchor="t">
            <a:normAutofit/>
          </a:bodyPr>
          <a:lstStyle>
            <a:defPPr algn="l">
              <a:defRPr sz="750" b="0">
                <a:solidFill>
                  <a:srgbClr val="6F8598"/>
                </a:solidFill>
                <a:latin typeface="Segoe UI"/>
                <a:ea typeface="Segoe UI"/>
                <a:cs typeface="Segoe UI"/>
              </a:defRPr>
            </a:defPPr>
          </a:lstStyle>
          <a:p>
            <a:pPr algn="l">
              <a:defRPr sz="750" b="0">
                <a:solidFill>
                  <a:srgbClr val="6F8598"/>
                </a:solidFill>
                <a:latin typeface="Segoe UI"/>
                <a:ea typeface="Segoe UI"/>
                <a:cs typeface="Segoe UI"/>
              </a:defRPr>
            </a:pPr>
            <a:r>
              <a:rPr sz="750" b="0">
                <a:solidFill>
                  <a:srgbClr val="6F8598"/>
                </a:solidFill>
                <a:latin typeface="Segoe UI"/>
                <a:ea typeface="Segoe UI"/>
                <a:cs typeface="Segoe UI"/>
              </a:rPr>
              <a:t>Synthetic healthcare data generated by Synthea</a:t>
            </a:r>
          </a:p>
        </p:txBody>
      </p:sp>
    </p:spTree>
    <p:extLst>
      <p:ext uri="{BB962C8B-B14F-4D97-AF65-F5344CB8AC3E}">
        <p14:creationId xmlns:p14="http://schemas.microsoft.com/office/powerpoint/2010/main" val="118371517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268B534B-6BB6-4555-A538-A16EB6F33EA9}"/>
              </a:ext>
            </a:extLst>
          </p:cNvPr>
          <p:cNvSpPr>
            <a:spLocks noGrp="1"/>
          </p:cNvSpPr>
          <p:nvPr/>
        </p:nvSpPr>
        <p:spPr>
          <a:xfrm>
            <a:off x="0" y="0"/>
            <a:ext cx="12192000" cy="76200"/>
          </a:xfrm>
          <a:prstGeom prst="rect">
            <a:avLst/>
          </a:prstGeom>
          <a:solidFill>
            <a:srgbClr val="114873"/>
          </a:solidFill>
          <a:ln w="0">
            <a:noFill/>
            <a:prstDash val="solid"/>
          </a:ln>
        </p:spPr>
        <p:txBody>
          <a:bodyPr/>
          <a:lstStyle/>
          <a:p>
            <a:endParaRPr lang="en-US"/>
          </a:p>
        </p:txBody>
      </p:sp>
      <p:sp>
        <p:nvSpPr>
          <p:cNvPr id="2" name="Rectangle 1">
            <a:extLst>
              <a:ext uri="{FF2B5EF4-FFF2-40B4-BE49-F238E27FC236}">
                <a16:creationId xmlns:a16="http://schemas.microsoft.com/office/drawing/2014/main" id="{0FF82A10-45B8-44DE-9BF1-F38BB124E019}"/>
              </a:ext>
            </a:extLst>
          </p:cNvPr>
          <p:cNvSpPr>
            <a:spLocks noGrp="1"/>
          </p:cNvSpPr>
          <p:nvPr/>
        </p:nvSpPr>
        <p:spPr>
          <a:xfrm>
            <a:off x="609600" y="285750"/>
            <a:ext cx="9906000" cy="495300"/>
          </a:xfrm>
          <a:prstGeom prst="rect">
            <a:avLst/>
          </a:prstGeom>
          <a:noFill/>
          <a:ln w="0">
            <a:noFill/>
            <a:prstDash val="solid"/>
          </a:ln>
        </p:spPr>
        <p:txBody>
          <a:bodyPr lIns="0" tIns="0" rIns="0" bIns="0" anchor="ctr">
            <a:normAutofit/>
          </a:bodyPr>
          <a:lstStyle>
            <a:defPPr algn="l">
              <a:defRPr sz="2550" b="1">
                <a:solidFill>
                  <a:srgbClr val="114873"/>
                </a:solidFill>
                <a:latin typeface="Segoe UI"/>
                <a:ea typeface="Segoe UI"/>
                <a:cs typeface="Segoe UI"/>
              </a:defRPr>
            </a:defPPr>
          </a:lstStyle>
          <a:p>
            <a:pPr algn="l">
              <a:defRPr sz="2550" b="1">
                <a:solidFill>
                  <a:srgbClr val="114873"/>
                </a:solidFill>
                <a:latin typeface="Segoe UI"/>
                <a:ea typeface="Segoe UI"/>
                <a:cs typeface="Segoe UI"/>
              </a:defRPr>
            </a:pPr>
            <a:r>
              <a:rPr sz="2550" b="1">
                <a:solidFill>
                  <a:srgbClr val="114873"/>
                </a:solidFill>
                <a:latin typeface="Segoe UI"/>
                <a:ea typeface="Segoe UI"/>
                <a:cs typeface="Segoe UI"/>
              </a:rPr>
              <a:t>Findings and interpretation limits</a:t>
            </a:r>
          </a:p>
        </p:txBody>
      </p:sp>
      <p:sp>
        <p:nvSpPr>
          <p:cNvPr id="3" name="Rectangle 2">
            <a:extLst>
              <a:ext uri="{FF2B5EF4-FFF2-40B4-BE49-F238E27FC236}">
                <a16:creationId xmlns:a16="http://schemas.microsoft.com/office/drawing/2014/main" id="{CC8EC498-FE63-4E72-B706-BA605B028849}"/>
              </a:ext>
            </a:extLst>
          </p:cNvPr>
          <p:cNvSpPr>
            <a:spLocks noGrp="1"/>
          </p:cNvSpPr>
          <p:nvPr/>
        </p:nvSpPr>
        <p:spPr>
          <a:xfrm>
            <a:off x="628650" y="781050"/>
            <a:ext cx="10287000" cy="304800"/>
          </a:xfrm>
          <a:prstGeom prst="rect">
            <a:avLst/>
          </a:prstGeom>
          <a:noFill/>
          <a:ln w="0">
            <a:noFill/>
            <a:prstDash val="solid"/>
          </a:ln>
        </p:spPr>
        <p:txBody>
          <a:bodyPr lIns="0" tIns="0" rIns="0" bIns="0" anchor="ctr">
            <a:normAutofit/>
          </a:bodyPr>
          <a:lstStyle>
            <a:defPPr algn="l">
              <a:defRPr sz="1200" b="0">
                <a:solidFill>
                  <a:srgbClr val="6F8598"/>
                </a:solidFill>
                <a:latin typeface="Segoe UI"/>
                <a:ea typeface="Segoe UI"/>
                <a:cs typeface="Segoe UI"/>
              </a:defRPr>
            </a:defPPr>
          </a:lstStyle>
          <a:p>
            <a:pPr algn="l">
              <a:defRPr sz="1200" b="0">
                <a:solidFill>
                  <a:srgbClr val="6F8598"/>
                </a:solidFill>
                <a:latin typeface="Segoe UI"/>
                <a:ea typeface="Segoe UI"/>
                <a:cs typeface="Segoe UI"/>
              </a:defRPr>
            </a:pPr>
            <a:r>
              <a:rPr sz="1200" b="0" dirty="0">
                <a:solidFill>
                  <a:srgbClr val="6F8598"/>
                </a:solidFill>
                <a:latin typeface="Segoe UI"/>
                <a:ea typeface="Segoe UI"/>
                <a:cs typeface="Segoe UI"/>
              </a:rPr>
              <a:t>Condition records support utilization analysis but do not allocate every dollar of claim cost</a:t>
            </a:r>
          </a:p>
        </p:txBody>
      </p:sp>
      <p:sp>
        <p:nvSpPr>
          <p:cNvPr id="4" name="Rectangle 3">
            <a:extLst>
              <a:ext uri="{FF2B5EF4-FFF2-40B4-BE49-F238E27FC236}">
                <a16:creationId xmlns:a16="http://schemas.microsoft.com/office/drawing/2014/main" id="{500E0128-ECA0-4707-9E50-5250EA363ECD}"/>
              </a:ext>
            </a:extLst>
          </p:cNvPr>
          <p:cNvSpPr>
            <a:spLocks noGrp="1"/>
          </p:cNvSpPr>
          <p:nvPr/>
        </p:nvSpPr>
        <p:spPr>
          <a:xfrm>
            <a:off x="11144250" y="361950"/>
            <a:ext cx="457200" cy="285750"/>
          </a:xfrm>
          <a:prstGeom prst="rect">
            <a:avLst/>
          </a:prstGeom>
          <a:noFill/>
          <a:ln w="0">
            <a:noFill/>
            <a:prstDash val="solid"/>
          </a:ln>
        </p:spPr>
        <p:txBody>
          <a:bodyPr lIns="0" tIns="0" rIns="0" bIns="0" anchor="t">
            <a:normAutofit/>
          </a:bodyPr>
          <a:lstStyle>
            <a:defPPr algn="r">
              <a:defRPr sz="1050" b="1">
                <a:solidFill>
                  <a:srgbClr val="6F8598"/>
                </a:solidFill>
                <a:latin typeface="Segoe UI"/>
                <a:ea typeface="Segoe UI"/>
                <a:cs typeface="Segoe UI"/>
              </a:defRPr>
            </a:defPPr>
          </a:lstStyle>
          <a:p>
            <a:pPr algn="r">
              <a:defRPr sz="1050" b="1">
                <a:solidFill>
                  <a:srgbClr val="6F8598"/>
                </a:solidFill>
                <a:latin typeface="Segoe UI"/>
                <a:ea typeface="Segoe UI"/>
                <a:cs typeface="Segoe UI"/>
              </a:defRPr>
            </a:pPr>
            <a:r>
              <a:rPr sz="1050" b="1">
                <a:solidFill>
                  <a:srgbClr val="6F8598"/>
                </a:solidFill>
                <a:latin typeface="Segoe UI"/>
                <a:ea typeface="Segoe UI"/>
                <a:cs typeface="Segoe UI"/>
              </a:rPr>
              <a:t>09</a:t>
            </a:r>
          </a:p>
        </p:txBody>
      </p:sp>
      <p:sp>
        <p:nvSpPr>
          <p:cNvPr id="5" name="Rectangle 4">
            <a:extLst>
              <a:ext uri="{FF2B5EF4-FFF2-40B4-BE49-F238E27FC236}">
                <a16:creationId xmlns:a16="http://schemas.microsoft.com/office/drawing/2014/main" id="{FA7BB2E0-31FC-4C42-A6D0-B4A916EF5A63}"/>
              </a:ext>
            </a:extLst>
          </p:cNvPr>
          <p:cNvSpPr>
            <a:spLocks noGrp="1"/>
          </p:cNvSpPr>
          <p:nvPr/>
        </p:nvSpPr>
        <p:spPr>
          <a:xfrm>
            <a:off x="666750" y="1352550"/>
            <a:ext cx="4000500" cy="323850"/>
          </a:xfrm>
          <a:prstGeom prst="rect">
            <a:avLst/>
          </a:prstGeom>
          <a:noFill/>
          <a:ln w="0">
            <a:noFill/>
            <a:prstDash val="solid"/>
          </a:ln>
        </p:spPr>
        <p:txBody>
          <a:bodyPr lIns="0" tIns="0" rIns="0" bIns="0" anchor="t">
            <a:normAutofit/>
          </a:bodyPr>
          <a:lstStyle>
            <a:defPPr algn="l">
              <a:defRPr sz="1650" b="1">
                <a:solidFill>
                  <a:srgbClr val="114873"/>
                </a:solidFill>
                <a:latin typeface="Segoe UI"/>
                <a:ea typeface="Segoe UI"/>
                <a:cs typeface="Segoe UI"/>
              </a:defRPr>
            </a:defPPr>
          </a:lstStyle>
          <a:p>
            <a:pPr algn="l">
              <a:defRPr sz="1650" b="1">
                <a:solidFill>
                  <a:srgbClr val="114873"/>
                </a:solidFill>
                <a:latin typeface="Segoe UI"/>
                <a:ea typeface="Segoe UI"/>
                <a:cs typeface="Segoe UI"/>
              </a:defRPr>
            </a:pPr>
            <a:r>
              <a:rPr sz="1650" b="1">
                <a:solidFill>
                  <a:srgbClr val="114873"/>
                </a:solidFill>
                <a:latin typeface="Segoe UI"/>
                <a:ea typeface="Segoe UI"/>
                <a:cs typeface="Segoe UI"/>
              </a:rPr>
              <a:t>Condition linkage coverage</a:t>
            </a:r>
          </a:p>
        </p:txBody>
      </p:sp>
      <p:graphicFrame>
        <p:nvGraphicFramePr>
          <p:cNvPr id="6" name="Chart">
            <a:extLst>
              <a:ext uri="{FF2B5EF4-FFF2-40B4-BE49-F238E27FC236}">
                <a16:creationId xmlns:a16="http://schemas.microsoft.com/office/drawing/2014/main" id="{D14AF088-3B2C-400C-AB1F-77C2D3FF8449}"/>
              </a:ext>
            </a:extLst>
          </p:cNvPr>
          <p:cNvGraphicFramePr/>
          <p:nvPr/>
        </p:nvGraphicFramePr>
        <p:xfrm>
          <a:off x="523875" y="1714500"/>
          <a:ext cx="4762500" cy="3714750"/>
        </p:xfrm>
        <a:graphic>
          <a:graphicData uri="http://schemas.openxmlformats.org/drawingml/2006/chart">
            <c:chart xmlns:c="http://schemas.openxmlformats.org/drawingml/2006/chart" xmlns:r="http://schemas.openxmlformats.org/officeDocument/2006/relationships" r:id="rId3"/>
          </a:graphicData>
        </a:graphic>
      </p:graphicFrame>
      <p:sp>
        <p:nvSpPr>
          <p:cNvPr id="7" name="Rectangle 6">
            <a:extLst>
              <a:ext uri="{FF2B5EF4-FFF2-40B4-BE49-F238E27FC236}">
                <a16:creationId xmlns:a16="http://schemas.microsoft.com/office/drawing/2014/main" id="{D823AEEA-5C56-4278-B9D2-2ECCC78F280B}"/>
              </a:ext>
            </a:extLst>
          </p:cNvPr>
          <p:cNvSpPr>
            <a:spLocks noGrp="1"/>
          </p:cNvSpPr>
          <p:nvPr/>
        </p:nvSpPr>
        <p:spPr>
          <a:xfrm>
            <a:off x="1905000" y="3114675"/>
            <a:ext cx="2000250" cy="457200"/>
          </a:xfrm>
          <a:prstGeom prst="rect">
            <a:avLst/>
          </a:prstGeom>
          <a:noFill/>
          <a:ln w="0">
            <a:noFill/>
            <a:prstDash val="solid"/>
          </a:ln>
        </p:spPr>
        <p:txBody>
          <a:bodyPr lIns="0" tIns="0" rIns="0" bIns="0" anchor="t">
            <a:normAutofit/>
          </a:bodyPr>
          <a:lstStyle>
            <a:defPPr algn="ctr">
              <a:defRPr sz="2250" b="1">
                <a:solidFill>
                  <a:srgbClr val="114873"/>
                </a:solidFill>
                <a:latin typeface="Segoe UI"/>
                <a:ea typeface="Segoe UI"/>
                <a:cs typeface="Segoe UI"/>
              </a:defRPr>
            </a:defPPr>
          </a:lstStyle>
          <a:p>
            <a:pPr algn="ctr">
              <a:defRPr sz="2250" b="1">
                <a:solidFill>
                  <a:srgbClr val="114873"/>
                </a:solidFill>
                <a:latin typeface="Segoe UI"/>
                <a:ea typeface="Segoe UI"/>
                <a:cs typeface="Segoe UI"/>
              </a:defRPr>
            </a:pPr>
            <a:r>
              <a:rPr sz="2250" b="1">
                <a:solidFill>
                  <a:srgbClr val="114873"/>
                </a:solidFill>
                <a:latin typeface="Segoe UI"/>
                <a:ea typeface="Segoe UI"/>
                <a:cs typeface="Segoe UI"/>
              </a:rPr>
              <a:t>$255.0M</a:t>
            </a:r>
          </a:p>
        </p:txBody>
      </p:sp>
      <p:sp>
        <p:nvSpPr>
          <p:cNvPr id="8" name="Rectangle 7">
            <a:extLst>
              <a:ext uri="{FF2B5EF4-FFF2-40B4-BE49-F238E27FC236}">
                <a16:creationId xmlns:a16="http://schemas.microsoft.com/office/drawing/2014/main" id="{32F0806F-AB4F-4476-BD6C-B805D15201AE}"/>
              </a:ext>
            </a:extLst>
          </p:cNvPr>
          <p:cNvSpPr>
            <a:spLocks noGrp="1"/>
          </p:cNvSpPr>
          <p:nvPr/>
        </p:nvSpPr>
        <p:spPr>
          <a:xfrm>
            <a:off x="1952625" y="3543300"/>
            <a:ext cx="1905000" cy="285750"/>
          </a:xfrm>
          <a:prstGeom prst="rect">
            <a:avLst/>
          </a:prstGeom>
          <a:noFill/>
          <a:ln w="0">
            <a:noFill/>
            <a:prstDash val="solid"/>
          </a:ln>
        </p:spPr>
        <p:txBody>
          <a:bodyPr lIns="0" tIns="0" rIns="0" bIns="0" anchor="t">
            <a:normAutofit/>
          </a:bodyPr>
          <a:lstStyle>
            <a:defPPr algn="ctr">
              <a:defRPr sz="1125" b="0">
                <a:solidFill>
                  <a:srgbClr val="6F8598"/>
                </a:solidFill>
                <a:latin typeface="Segoe UI"/>
                <a:ea typeface="Segoe UI"/>
                <a:cs typeface="Segoe UI"/>
              </a:defRPr>
            </a:defPPr>
          </a:lstStyle>
          <a:p>
            <a:pPr algn="ctr">
              <a:defRPr sz="1125" b="0">
                <a:solidFill>
                  <a:srgbClr val="6F8598"/>
                </a:solidFill>
                <a:latin typeface="Segoe UI"/>
                <a:ea typeface="Segoe UI"/>
                <a:cs typeface="Segoe UI"/>
              </a:defRPr>
            </a:pPr>
            <a:r>
              <a:rPr sz="1125" b="0">
                <a:solidFill>
                  <a:srgbClr val="6F8598"/>
                </a:solidFill>
                <a:latin typeface="Segoe UI"/>
                <a:ea typeface="Segoe UI"/>
                <a:cs typeface="Segoe UI"/>
              </a:rPr>
              <a:t>total claim cost</a:t>
            </a:r>
          </a:p>
        </p:txBody>
      </p:sp>
      <p:sp>
        <p:nvSpPr>
          <p:cNvPr id="9" name="Rectangle 8">
            <a:extLst>
              <a:ext uri="{FF2B5EF4-FFF2-40B4-BE49-F238E27FC236}">
                <a16:creationId xmlns:a16="http://schemas.microsoft.com/office/drawing/2014/main" id="{B00EAFE9-BDDD-4451-8963-AC677793C88E}"/>
              </a:ext>
            </a:extLst>
          </p:cNvPr>
          <p:cNvSpPr>
            <a:spLocks noGrp="1"/>
          </p:cNvSpPr>
          <p:nvPr/>
        </p:nvSpPr>
        <p:spPr>
          <a:xfrm>
            <a:off x="5810250" y="1428750"/>
            <a:ext cx="4953000" cy="323850"/>
          </a:xfrm>
          <a:prstGeom prst="rect">
            <a:avLst/>
          </a:prstGeom>
          <a:noFill/>
          <a:ln w="0">
            <a:noFill/>
            <a:prstDash val="solid"/>
          </a:ln>
        </p:spPr>
        <p:txBody>
          <a:bodyPr lIns="0" tIns="0" rIns="0" bIns="0" anchor="t">
            <a:normAutofit/>
          </a:bodyPr>
          <a:lstStyle>
            <a:defPPr algn="l">
              <a:defRPr sz="1650" b="1">
                <a:solidFill>
                  <a:srgbClr val="114873"/>
                </a:solidFill>
                <a:latin typeface="Segoe UI"/>
                <a:ea typeface="Segoe UI"/>
                <a:cs typeface="Segoe UI"/>
              </a:defRPr>
            </a:defPPr>
          </a:lstStyle>
          <a:p>
            <a:pPr algn="l">
              <a:defRPr sz="1650" b="1">
                <a:solidFill>
                  <a:srgbClr val="114873"/>
                </a:solidFill>
                <a:latin typeface="Segoe UI"/>
                <a:ea typeface="Segoe UI"/>
                <a:cs typeface="Segoe UI"/>
              </a:defRPr>
            </a:pPr>
            <a:r>
              <a:rPr sz="1650" b="1" dirty="0">
                <a:solidFill>
                  <a:srgbClr val="114873"/>
                </a:solidFill>
                <a:latin typeface="Segoe UI"/>
                <a:ea typeface="Segoe UI"/>
                <a:cs typeface="Segoe UI"/>
              </a:rPr>
              <a:t>What the analysis supports</a:t>
            </a:r>
          </a:p>
        </p:txBody>
      </p:sp>
      <p:sp>
        <p:nvSpPr>
          <p:cNvPr id="10" name="Rectangle 9">
            <a:extLst>
              <a:ext uri="{FF2B5EF4-FFF2-40B4-BE49-F238E27FC236}">
                <a16:creationId xmlns:a16="http://schemas.microsoft.com/office/drawing/2014/main" id="{9B50BE12-FF12-4F36-BE64-5441C9087C37}"/>
              </a:ext>
            </a:extLst>
          </p:cNvPr>
          <p:cNvSpPr>
            <a:spLocks noGrp="1"/>
          </p:cNvSpPr>
          <p:nvPr/>
        </p:nvSpPr>
        <p:spPr>
          <a:xfrm>
            <a:off x="5810250" y="1885950"/>
            <a:ext cx="5238750" cy="1952625"/>
          </a:xfrm>
          <a:prstGeom prst="rect">
            <a:avLst/>
          </a:prstGeom>
          <a:noFill/>
          <a:ln w="0">
            <a:noFill/>
            <a:prstDash val="solid"/>
          </a:ln>
        </p:spPr>
        <p:txBody>
          <a:bodyPr lIns="0" tIns="0" rIns="0" bIns="0">
            <a:normAutofit/>
          </a:bodyPr>
          <a:lstStyle>
            <a:defPPr>
              <a:defRPr sz="1350">
                <a:solidFill>
                  <a:srgbClr val="405A70"/>
                </a:solidFill>
                <a:latin typeface="Segoe UI"/>
                <a:ea typeface="Segoe UI"/>
                <a:cs typeface="Segoe UI"/>
              </a:defRPr>
            </a:defPPr>
          </a:lstStyle>
          <a:p>
            <a:pPr marL="254000" indent="-127000">
              <a:spcAft>
                <a:spcPts val="1000"/>
              </a:spcAft>
              <a:buChar char="•"/>
              <a:defRPr sz="1350">
                <a:solidFill>
                  <a:srgbClr val="405A70"/>
                </a:solidFill>
                <a:latin typeface="Segoe UI"/>
                <a:ea typeface="Segoe UI"/>
                <a:cs typeface="Segoe UI"/>
              </a:defRPr>
            </a:pPr>
            <a:r>
              <a:rPr sz="1350" dirty="0">
                <a:solidFill>
                  <a:srgbClr val="405A70"/>
                </a:solidFill>
                <a:latin typeface="Segoe UI"/>
                <a:ea typeface="Segoe UI"/>
                <a:cs typeface="Segoe UI"/>
              </a:rPr>
              <a:t>Ambulatory encounters are the largest concentration of claim cost.</a:t>
            </a:r>
          </a:p>
          <a:p>
            <a:pPr marL="254000" indent="-127000">
              <a:spcAft>
                <a:spcPts val="1000"/>
              </a:spcAft>
              <a:buChar char="•"/>
              <a:defRPr sz="1350">
                <a:solidFill>
                  <a:srgbClr val="405A70"/>
                </a:solidFill>
                <a:latin typeface="Segoe UI"/>
                <a:ea typeface="Segoe UI"/>
                <a:cs typeface="Segoe UI"/>
              </a:defRPr>
            </a:pPr>
            <a:r>
              <a:rPr sz="1350" dirty="0">
                <a:solidFill>
                  <a:srgbClr val="405A70"/>
                </a:solidFill>
                <a:latin typeface="Segoe UI"/>
                <a:ea typeface="Segoe UI"/>
                <a:cs typeface="Segoe UI"/>
              </a:rPr>
              <a:t>Utilization increased through both patient growth and higher encounter frequency.</a:t>
            </a:r>
          </a:p>
          <a:p>
            <a:pPr marL="254000" indent="-127000">
              <a:spcAft>
                <a:spcPts val="1000"/>
              </a:spcAft>
              <a:buChar char="•"/>
              <a:defRPr sz="1350">
                <a:solidFill>
                  <a:srgbClr val="405A70"/>
                </a:solidFill>
                <a:latin typeface="Segoe UI"/>
                <a:ea typeface="Segoe UI"/>
                <a:cs typeface="Segoe UI"/>
              </a:defRPr>
            </a:pPr>
            <a:r>
              <a:rPr sz="1350" dirty="0">
                <a:solidFill>
                  <a:srgbClr val="405A70"/>
                </a:solidFill>
                <a:latin typeface="Segoe UI"/>
                <a:ea typeface="Segoe UI"/>
                <a:cs typeface="Segoe UI"/>
              </a:rPr>
              <a:t>High encounter volume does not automatically mean high average encounter cost.</a:t>
            </a:r>
          </a:p>
        </p:txBody>
      </p:sp>
      <p:sp>
        <p:nvSpPr>
          <p:cNvPr id="11" name="Rectangle 10">
            <a:extLst>
              <a:ext uri="{FF2B5EF4-FFF2-40B4-BE49-F238E27FC236}">
                <a16:creationId xmlns:a16="http://schemas.microsoft.com/office/drawing/2014/main" id="{5A03869C-DE77-4BE6-9FD3-5F3CB6100E2A}"/>
              </a:ext>
            </a:extLst>
          </p:cNvPr>
          <p:cNvSpPr>
            <a:spLocks noGrp="1"/>
          </p:cNvSpPr>
          <p:nvPr/>
        </p:nvSpPr>
        <p:spPr>
          <a:xfrm>
            <a:off x="5810250" y="4048125"/>
            <a:ext cx="4953000" cy="323850"/>
          </a:xfrm>
          <a:prstGeom prst="rect">
            <a:avLst/>
          </a:prstGeom>
          <a:noFill/>
          <a:ln w="0">
            <a:noFill/>
            <a:prstDash val="solid"/>
          </a:ln>
        </p:spPr>
        <p:txBody>
          <a:bodyPr lIns="0" tIns="0" rIns="0" bIns="0" anchor="t">
            <a:normAutofit/>
          </a:bodyPr>
          <a:lstStyle>
            <a:defPPr algn="l">
              <a:defRPr sz="1650" b="1">
                <a:solidFill>
                  <a:srgbClr val="114873"/>
                </a:solidFill>
                <a:latin typeface="Segoe UI"/>
                <a:ea typeface="Segoe UI"/>
                <a:cs typeface="Segoe UI"/>
              </a:defRPr>
            </a:defPPr>
          </a:lstStyle>
          <a:p>
            <a:pPr algn="l">
              <a:defRPr sz="1650" b="1">
                <a:solidFill>
                  <a:srgbClr val="114873"/>
                </a:solidFill>
                <a:latin typeface="Segoe UI"/>
                <a:ea typeface="Segoe UI"/>
                <a:cs typeface="Segoe UI"/>
              </a:defRPr>
            </a:pPr>
            <a:r>
              <a:rPr sz="1650" b="1">
                <a:solidFill>
                  <a:srgbClr val="114873"/>
                </a:solidFill>
                <a:latin typeface="Segoe UI"/>
                <a:ea typeface="Segoe UI"/>
                <a:cs typeface="Segoe UI"/>
              </a:rPr>
              <a:t>How to interpret the results</a:t>
            </a:r>
          </a:p>
        </p:txBody>
      </p:sp>
      <p:sp>
        <p:nvSpPr>
          <p:cNvPr id="12" name="Rectangle 11">
            <a:extLst>
              <a:ext uri="{FF2B5EF4-FFF2-40B4-BE49-F238E27FC236}">
                <a16:creationId xmlns:a16="http://schemas.microsoft.com/office/drawing/2014/main" id="{2AA604CB-91ED-4ED8-9B46-091253ECDF9C}"/>
              </a:ext>
            </a:extLst>
          </p:cNvPr>
          <p:cNvSpPr>
            <a:spLocks noGrp="1"/>
          </p:cNvSpPr>
          <p:nvPr/>
        </p:nvSpPr>
        <p:spPr>
          <a:xfrm>
            <a:off x="5810250" y="4505325"/>
            <a:ext cx="5238750" cy="1619250"/>
          </a:xfrm>
          <a:prstGeom prst="rect">
            <a:avLst/>
          </a:prstGeom>
          <a:noFill/>
          <a:ln w="0">
            <a:noFill/>
            <a:prstDash val="solid"/>
          </a:ln>
        </p:spPr>
        <p:txBody>
          <a:bodyPr lIns="0" tIns="0" rIns="0" bIns="0">
            <a:normAutofit/>
          </a:bodyPr>
          <a:lstStyle>
            <a:defPPr>
              <a:defRPr sz="1275">
                <a:solidFill>
                  <a:srgbClr val="405A70"/>
                </a:solidFill>
                <a:latin typeface="Segoe UI"/>
                <a:ea typeface="Segoe UI"/>
                <a:cs typeface="Segoe UI"/>
              </a:defRPr>
            </a:defPPr>
          </a:lstStyle>
          <a:p>
            <a:pPr marL="254000" indent="-127000">
              <a:spcAft>
                <a:spcPts val="900"/>
              </a:spcAft>
              <a:buChar char="•"/>
              <a:defRPr sz="1275">
                <a:solidFill>
                  <a:srgbClr val="405A70"/>
                </a:solidFill>
                <a:latin typeface="Segoe UI"/>
                <a:ea typeface="Segoe UI"/>
                <a:cs typeface="Segoe UI"/>
              </a:defRPr>
            </a:pPr>
            <a:r>
              <a:rPr sz="1275" dirty="0">
                <a:solidFill>
                  <a:srgbClr val="405A70"/>
                </a:solidFill>
                <a:latin typeface="Segoe UI"/>
                <a:ea typeface="Segoe UI"/>
                <a:cs typeface="Segoe UI"/>
              </a:rPr>
              <a:t>Synthea data is synthetic and does not represent real hospital performance.</a:t>
            </a:r>
          </a:p>
          <a:p>
            <a:pPr marL="254000" indent="-127000">
              <a:spcAft>
                <a:spcPts val="900"/>
              </a:spcAft>
              <a:buChar char="•"/>
              <a:defRPr sz="1275">
                <a:solidFill>
                  <a:srgbClr val="405A70"/>
                </a:solidFill>
                <a:latin typeface="Segoe UI"/>
                <a:ea typeface="Segoe UI"/>
                <a:cs typeface="Segoe UI"/>
              </a:defRPr>
            </a:pPr>
            <a:r>
              <a:rPr sz="1275" dirty="0">
                <a:solidFill>
                  <a:srgbClr val="405A70"/>
                </a:solidFill>
                <a:latin typeface="Segoe UI"/>
                <a:ea typeface="Segoe UI"/>
                <a:cs typeface="Segoe UI"/>
              </a:rPr>
              <a:t>The </a:t>
            </a:r>
            <a:r>
              <a:rPr sz="1275" dirty="0" err="1">
                <a:solidFill>
                  <a:srgbClr val="405A70"/>
                </a:solidFill>
                <a:latin typeface="Segoe UI"/>
                <a:ea typeface="Segoe UI"/>
                <a:cs typeface="Segoe UI"/>
              </a:rPr>
              <a:t>total_claim_cost</a:t>
            </a:r>
            <a:r>
              <a:rPr sz="1275" dirty="0">
                <a:solidFill>
                  <a:srgbClr val="405A70"/>
                </a:solidFill>
                <a:latin typeface="Segoe UI"/>
                <a:ea typeface="Segoe UI"/>
                <a:cs typeface="Segoe UI"/>
              </a:rPr>
              <a:t> field represents claim cost</a:t>
            </a:r>
            <a:r>
              <a:rPr lang="en-US" sz="1275" dirty="0">
                <a:solidFill>
                  <a:srgbClr val="405A70"/>
                </a:solidFill>
                <a:latin typeface="Segoe UI"/>
                <a:ea typeface="Segoe UI"/>
                <a:cs typeface="Segoe UI"/>
              </a:rPr>
              <a:t>s</a:t>
            </a:r>
            <a:r>
              <a:rPr sz="1275" dirty="0">
                <a:solidFill>
                  <a:srgbClr val="405A70"/>
                </a:solidFill>
                <a:latin typeface="Segoe UI"/>
                <a:ea typeface="Segoe UI"/>
                <a:cs typeface="Segoe UI"/>
              </a:rPr>
              <a:t>, not necessarily insurer payment.</a:t>
            </a:r>
          </a:p>
          <a:p>
            <a:pPr marL="254000" indent="-127000">
              <a:spcAft>
                <a:spcPts val="900"/>
              </a:spcAft>
              <a:buChar char="•"/>
              <a:defRPr sz="1275">
                <a:solidFill>
                  <a:srgbClr val="405A70"/>
                </a:solidFill>
                <a:latin typeface="Segoe UI"/>
                <a:ea typeface="Segoe UI"/>
                <a:cs typeface="Segoe UI"/>
              </a:defRPr>
            </a:pPr>
            <a:r>
              <a:rPr sz="1275" dirty="0">
                <a:solidFill>
                  <a:srgbClr val="405A70"/>
                </a:solidFill>
                <a:latin typeface="Segoe UI"/>
                <a:ea typeface="Segoe UI"/>
                <a:cs typeface="Segoe UI"/>
              </a:rPr>
              <a:t>Condition-linked costs </a:t>
            </a:r>
            <a:r>
              <a:rPr lang="en-US" sz="1275" dirty="0">
                <a:solidFill>
                  <a:srgbClr val="405A70"/>
                </a:solidFill>
                <a:latin typeface="Segoe UI"/>
                <a:ea typeface="Segoe UI"/>
                <a:cs typeface="Segoe UI"/>
              </a:rPr>
              <a:t>may </a:t>
            </a:r>
            <a:r>
              <a:rPr sz="1275" dirty="0">
                <a:solidFill>
                  <a:srgbClr val="405A70"/>
                </a:solidFill>
                <a:latin typeface="Segoe UI"/>
                <a:ea typeface="Segoe UI"/>
                <a:cs typeface="Segoe UI"/>
              </a:rPr>
              <a:t>overlap when one encounter contains multiple recorded conditions.</a:t>
            </a:r>
          </a:p>
        </p:txBody>
      </p:sp>
      <p:sp>
        <p:nvSpPr>
          <p:cNvPr id="13" name="Rectangle 12">
            <a:extLst>
              <a:ext uri="{FF2B5EF4-FFF2-40B4-BE49-F238E27FC236}">
                <a16:creationId xmlns:a16="http://schemas.microsoft.com/office/drawing/2014/main" id="{9F7C1779-F057-45CE-BF14-D1CB78528C63}"/>
              </a:ext>
            </a:extLst>
          </p:cNvPr>
          <p:cNvSpPr>
            <a:spLocks noGrp="1"/>
          </p:cNvSpPr>
          <p:nvPr/>
        </p:nvSpPr>
        <p:spPr>
          <a:xfrm>
            <a:off x="609600" y="6543675"/>
            <a:ext cx="10972800" cy="9525"/>
          </a:xfrm>
          <a:prstGeom prst="rect">
            <a:avLst/>
          </a:prstGeom>
          <a:solidFill>
            <a:srgbClr val="D9E4EC"/>
          </a:solidFill>
          <a:ln w="0">
            <a:noFill/>
            <a:prstDash val="solid"/>
          </a:ln>
        </p:spPr>
        <p:txBody>
          <a:bodyPr/>
          <a:lstStyle/>
          <a:p>
            <a:endParaRPr lang="en-US"/>
          </a:p>
        </p:txBody>
      </p:sp>
      <p:sp>
        <p:nvSpPr>
          <p:cNvPr id="14" name="Rectangle 13">
            <a:extLst>
              <a:ext uri="{FF2B5EF4-FFF2-40B4-BE49-F238E27FC236}">
                <a16:creationId xmlns:a16="http://schemas.microsoft.com/office/drawing/2014/main" id="{3D8D66E7-A770-4B7C-953B-CC876A6A7E04}"/>
              </a:ext>
            </a:extLst>
          </p:cNvPr>
          <p:cNvSpPr>
            <a:spLocks noGrp="1"/>
          </p:cNvSpPr>
          <p:nvPr/>
        </p:nvSpPr>
        <p:spPr>
          <a:xfrm>
            <a:off x="609600" y="6600825"/>
            <a:ext cx="6953250" cy="171450"/>
          </a:xfrm>
          <a:prstGeom prst="rect">
            <a:avLst/>
          </a:prstGeom>
          <a:noFill/>
          <a:ln w="0">
            <a:noFill/>
            <a:prstDash val="solid"/>
          </a:ln>
        </p:spPr>
        <p:txBody>
          <a:bodyPr lIns="0" tIns="0" rIns="0" bIns="0" anchor="t">
            <a:normAutofit/>
          </a:bodyPr>
          <a:lstStyle>
            <a:defPPr algn="l">
              <a:defRPr sz="750" b="0">
                <a:solidFill>
                  <a:srgbClr val="6F8598"/>
                </a:solidFill>
                <a:latin typeface="Segoe UI"/>
                <a:ea typeface="Segoe UI"/>
                <a:cs typeface="Segoe UI"/>
              </a:defRPr>
            </a:defPPr>
          </a:lstStyle>
          <a:p>
            <a:pPr algn="l">
              <a:defRPr sz="750" b="0">
                <a:solidFill>
                  <a:srgbClr val="6F8598"/>
                </a:solidFill>
                <a:latin typeface="Segoe UI"/>
                <a:ea typeface="Segoe UI"/>
                <a:cs typeface="Segoe UI"/>
              </a:defRPr>
            </a:pPr>
            <a:r>
              <a:rPr sz="750" b="0">
                <a:solidFill>
                  <a:srgbClr val="6F8598"/>
                </a:solidFill>
                <a:latin typeface="Segoe UI"/>
                <a:ea typeface="Segoe UI"/>
                <a:cs typeface="Segoe UI"/>
              </a:rPr>
              <a:t>Synthetic Synthea data | Associations describe the modeled dataset and do not establish causation</a:t>
            </a:r>
          </a:p>
        </p:txBody>
      </p:sp>
    </p:spTree>
    <p:extLst>
      <p:ext uri="{BB962C8B-B14F-4D97-AF65-F5344CB8AC3E}">
        <p14:creationId xmlns:p14="http://schemas.microsoft.com/office/powerpoint/2010/main" val="173555814"/>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7</TotalTime>
  <Words>962</Words>
  <Application>Microsoft Office PowerPoint</Application>
  <DocSecurity>0</DocSecurity>
  <PresentationFormat>Widescreen</PresentationFormat>
  <Paragraphs>124</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Aptos</vt:lpstr>
      <vt:lpstr>Segoe UI</vt:lpstr>
      <vt:lpstr>ChatGPT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James Stuart</cp:lastModifiedBy>
  <cp:revision>2</cp:revision>
  <dcterms:created xsi:type="dcterms:W3CDTF">2026-10-09T12:03:32Z</dcterms:created>
  <dcterms:modified xsi:type="dcterms:W3CDTF">2026-10-09T12:13:08Z</dcterms:modified>
</cp:coreProperties>
</file>